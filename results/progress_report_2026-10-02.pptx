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1E2933"/>
                </a:solidFill>
                <a:latin typeface="맑은 고딕"/>
                <a:ea typeface="맑은 고딕"/>
                <a:cs typeface="맑은 고딕"/>
              </a:rPr>
              <a:t>장비 전체 깊이 (mm)</a:t>
            </a:r>
          </a:p>
        </c:rich>
      </c:tx>
      <c:layout/>
      <c:overlay val="0"/>
    </c:title>
    <c:autoTitleDeleted val="0"/>
    <c:plotArea>
      <c:barChart>
        <c:barDir val="col"/>
        <c:grouping val="clustered"/>
        <c:ser>
          <c:idx val="0"/>
          <c:order val="0"/>
          <c:tx>
            <c:strRef>
              <c:f>Sheet1!$B$1</c:f>
              <c:strCache>
                <c:ptCount val="1"/>
                <c:pt idx="0">
                  <c:v>원본</c:v>
                </c:pt>
              </c:strCache>
            </c:strRef>
          </c:tx>
          <c:spPr>
            <a:solidFill>
              <a:srgbClr val="B8C0C6"/>
            </a:solidFill>
          </c:spPr>
          <c:cat>
            <c:strRef>
              <c:f>Sheet1!$A$2:$A$4</c:f>
              <c:strCache>
                <c:ptCount val="3"/>
                <c:pt idx="0">
                  <c:v>Fluent</c:v>
                </c:pt>
                <c:pt idx="1">
                  <c:v>STX44</c:v>
                </c:pt>
                <c:pt idx="2">
                  <c:v>Reader</c:v>
                </c:pt>
              </c:strCache>
            </c:strRef>
          </c:cat>
          <c:val>
            <c:numRef>
              <c:f>Sheet1!$B$2:$B$4</c:f>
              <c:numCache>
                <c:formatCode>General</c:formatCode>
                <c:ptCount val="3"/>
                <c:pt idx="0">
                  <c:v>1152</c:v>
                </c:pt>
                <c:pt idx="1">
                  <c:v>485</c:v>
                </c:pt>
                <c:pt idx="2">
                  <c:v>559</c:v>
                </c:pt>
              </c:numCache>
            </c:numRef>
          </c:val>
        </c:ser>
        <c:ser>
          <c:idx val="1"/>
          <c:order val="1"/>
          <c:tx>
            <c:strRef>
              <c:f>Sheet1!$C$1</c:f>
              <c:strCache>
                <c:ptCount val="1"/>
                <c:pt idx="0">
                  <c:v>C1</c:v>
                </c:pt>
              </c:strCache>
            </c:strRef>
          </c:tx>
          <c:spPr>
            <a:solidFill>
              <a:srgbClr val="9FD2CA"/>
            </a:solidFill>
          </c:spPr>
          <c:cat>
            <c:strRef>
              <c:f>Sheet1!$A$2:$A$4</c:f>
              <c:strCache>
                <c:ptCount val="3"/>
                <c:pt idx="0">
                  <c:v>Fluent</c:v>
                </c:pt>
                <c:pt idx="1">
                  <c:v>STX44</c:v>
                </c:pt>
                <c:pt idx="2">
                  <c:v>Reader</c:v>
                </c:pt>
              </c:strCache>
            </c:strRef>
          </c:cat>
          <c:val>
            <c:numRef>
              <c:f>Sheet1!$C$2:$C$4</c:f>
              <c:numCache>
                <c:formatCode>General</c:formatCode>
                <c:ptCount val="3"/>
                <c:pt idx="0">
                  <c:v>1069</c:v>
                </c:pt>
                <c:pt idx="1">
                  <c:v>412</c:v>
                </c:pt>
                <c:pt idx="2">
                  <c:v>483</c:v>
                </c:pt>
              </c:numCache>
            </c:numRef>
          </c:val>
        </c:ser>
        <c:ser>
          <c:idx val="2"/>
          <c:order val="2"/>
          <c:tx>
            <c:strRef>
              <c:f>Sheet1!$D$1</c:f>
              <c:strCache>
                <c:ptCount val="1"/>
                <c:pt idx="0">
                  <c:v>C2</c:v>
                </c:pt>
              </c:strCache>
            </c:strRef>
          </c:tx>
          <c:spPr>
            <a:solidFill>
              <a:srgbClr val="4FAEA2"/>
            </a:solidFill>
          </c:spPr>
          <c:cat>
            <c:strRef>
              <c:f>Sheet1!$A$2:$A$4</c:f>
              <c:strCache>
                <c:ptCount val="3"/>
                <c:pt idx="0">
                  <c:v>Fluent</c:v>
                </c:pt>
                <c:pt idx="1">
                  <c:v>STX44</c:v>
                </c:pt>
                <c:pt idx="2">
                  <c:v>Reader</c:v>
                </c:pt>
              </c:strCache>
            </c:strRef>
          </c:cat>
          <c:val>
            <c:numRef>
              <c:f>Sheet1!$D$2:$D$4</c:f>
              <c:numCache>
                <c:formatCode>General</c:formatCode>
                <c:ptCount val="3"/>
                <c:pt idx="0">
                  <c:v>986</c:v>
                </c:pt>
                <c:pt idx="1">
                  <c:v>340</c:v>
                </c:pt>
                <c:pt idx="2">
                  <c:v>406</c:v>
                </c:pt>
              </c:numCache>
            </c:numRef>
          </c:val>
        </c:ser>
        <c:ser>
          <c:idx val="3"/>
          <c:order val="3"/>
          <c:tx>
            <c:strRef>
              <c:f>Sheet1!$E$1</c:f>
              <c:strCache>
                <c:ptCount val="1"/>
                <c:pt idx="0">
                  <c:v>C3</c:v>
                </c:pt>
              </c:strCache>
            </c:strRef>
          </c:tx>
          <c:spPr>
            <a:solidFill>
              <a:srgbClr val="1F8A7E"/>
            </a:solidFill>
          </c:spPr>
          <c:cat>
            <c:strRef>
              <c:f>Sheet1!$A$2:$A$4</c:f>
              <c:strCache>
                <c:ptCount val="3"/>
                <c:pt idx="0">
                  <c:v>Fluent</c:v>
                </c:pt>
                <c:pt idx="1">
                  <c:v>STX44</c:v>
                </c:pt>
                <c:pt idx="2">
                  <c:v>Reader</c:v>
                </c:pt>
              </c:strCache>
            </c:strRef>
          </c:cat>
          <c:val>
            <c:numRef>
              <c:f>Sheet1!$E$2:$E$4</c:f>
              <c:numCache>
                <c:formatCode>General</c:formatCode>
                <c:ptCount val="3"/>
                <c:pt idx="0">
                  <c:v>930</c:v>
                </c:pt>
                <c:pt idx="1">
                  <c:v>291</c:v>
                </c:pt>
                <c:pt idx="2">
                  <c:v>355</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E4E8EB"/>
              </a:solidFill>
            </a:ln>
          </c:spPr>
        </c:majorGridlines>
        <c:majorTickMark val="out"/>
        <c:minorTickMark val="none"/>
        <c:tickLblPos val="nextTo"/>
        <c:spPr>
          <a:ln>
            <a:noFill/>
          </a:ln>
        </c:spPr>
        <c:txPr>
          <a:bodyPr/>
          <a:lstStyle/>
          <a:p>
            <a:pPr>
              <a:defRPr sz="1000">
                <a:solidFill>
                  <a:srgbClr val="5F6B76"/>
                </a:solidFill>
              </a:defRPr>
            </a:pPr>
          </a:p>
        </c:txPr>
        <c:crossAx val="-2068027336"/>
        <c:crosses val="autoZero"/>
      </c:valAx>
    </c:plotArea>
    <c:legend>
      <c:legendPos val="b"/>
      <c:overlay val="0"/>
    </c:legend>
    <c:dispBlanksAs val="gap"/>
  </c:chart>
  <c:txPr>
    <a:bodyPr/>
    <a:lstStyle/>
    <a:p>
      <a:pPr>
        <a:defRPr sz="1200">
          <a:solidFill>
            <a:srgbClr val="1E2933"/>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1E2933"/>
                </a:solidFill>
                <a:latin typeface="맑은 고딕"/>
                <a:ea typeface="맑은 고딕"/>
                <a:cs typeface="맑은 고딕"/>
              </a:rPr>
              <a:t>구간별 경유지 수</a:t>
            </a:r>
          </a:p>
        </c:rich>
      </c:tx>
      <c:layout/>
      <c:overlay val="0"/>
    </c:title>
    <c:autoTitleDeleted val="0"/>
    <c:plotArea>
      <c:barChart>
        <c:barDir val="bar"/>
        <c:grouping val="clustered"/>
        <c:ser>
          <c:idx val="0"/>
          <c:order val="0"/>
          <c:tx>
            <c:strRef>
              <c:f>Sheet1!$B$1</c:f>
              <c:strCache>
                <c:ptCount val="1"/>
                <c:pt idx="0">
                  <c:v>경유지 수</c:v>
                </c:pt>
              </c:strCache>
            </c:strRef>
          </c:tx>
          <c:spPr>
            <a:solidFill>
              <a:srgbClr val="1F8A7E"/>
            </a:solidFill>
          </c:spPr>
          <c:cat>
            <c:strRef>
              <c:f>Sheet1!$A$2:$A$6</c:f>
              <c:strCache>
                <c:ptCount val="5"/>
                <c:pt idx="0">
                  <c:v>Hotel→Fluent</c:v>
                </c:pt>
                <c:pt idx="1">
                  <c:v>Fluent→STX44</c:v>
                </c:pt>
                <c:pt idx="2">
                  <c:v>STX44→Reader</c:v>
                </c:pt>
                <c:pt idx="3">
                  <c:v>Reader→Fluent</c:v>
                </c:pt>
                <c:pt idx="4">
                  <c:v>Reader→Waste</c:v>
                </c:pt>
              </c:strCache>
            </c:strRef>
          </c:cat>
          <c:val>
            <c:numRef>
              <c:f>Sheet1!$B$2:$B$6</c:f>
              <c:numCache>
                <c:formatCode>General</c:formatCode>
                <c:ptCount val="5"/>
                <c:pt idx="0">
                  <c:v>34</c:v>
                </c:pt>
                <c:pt idx="1">
                  <c:v>17</c:v>
                </c:pt>
                <c:pt idx="2">
                  <c:v>14</c:v>
                </c:pt>
                <c:pt idx="3">
                  <c:v>37</c:v>
                </c:pt>
                <c:pt idx="4">
                  <c:v>12</c:v>
                </c:pt>
              </c:numCache>
            </c:numRef>
          </c:val>
        </c:ser>
        <c:dLbls>
          <c:txPr>
            <a:bodyPr/>
            <a:lstStyle/>
            <a:p>
              <a:pPr>
                <a:defRPr sz="11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200">
          <a:solidFill>
            <a:srgbClr val="1E2933"/>
          </a:solidFill>
          <a:latin typeface="맑은 고딕"/>
          <a:ea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수정 전</c:v>
                </c:pt>
              </c:strCache>
            </c:strRef>
          </c:tx>
          <c:spPr>
            <a:solidFill>
              <a:srgbClr val="B8C0C6"/>
            </a:solidFill>
          </c:spPr>
          <c:cat>
            <c:strRef>
              <c:f>Sheet1!$A$2:$A$6</c:f>
              <c:strCache>
                <c:ptCount val="5"/>
                <c:pt idx="0">
                  <c:v>Hotel→Fluent</c:v>
                </c:pt>
                <c:pt idx="1">
                  <c:v>Fluent→STX44</c:v>
                </c:pt>
                <c:pt idx="2">
                  <c:v>STX44→Reader</c:v>
                </c:pt>
                <c:pt idx="3">
                  <c:v>Reader→Fluent</c:v>
                </c:pt>
                <c:pt idx="4">
                  <c:v>Reader→Waste</c:v>
                </c:pt>
              </c:strCache>
            </c:strRef>
          </c:cat>
          <c:val>
            <c:numRef>
              <c:f>Sheet1!$B$2:$B$6</c:f>
              <c:numCache>
                <c:formatCode>General</c:formatCode>
                <c:ptCount val="5"/>
                <c:pt idx="0">
                  <c:v>4.82</c:v>
                </c:pt>
                <c:pt idx="1">
                  <c:v>3.73</c:v>
                </c:pt>
                <c:pt idx="2">
                  <c:v>2.63</c:v>
                </c:pt>
                <c:pt idx="3">
                  <c:v>4.26</c:v>
                </c:pt>
                <c:pt idx="4">
                  <c:v>3.81</c:v>
                </c:pt>
              </c:numCache>
            </c:numRef>
          </c:val>
        </c:ser>
        <c:ser>
          <c:idx val="1"/>
          <c:order val="1"/>
          <c:tx>
            <c:strRef>
              <c:f>Sheet1!$C$1</c:f>
              <c:strCache>
                <c:ptCount val="1"/>
                <c:pt idx="0">
                  <c:v>수정 후</c:v>
                </c:pt>
              </c:strCache>
            </c:strRef>
          </c:tx>
          <c:spPr>
            <a:solidFill>
              <a:srgbClr val="1F8A7E"/>
            </a:solidFill>
          </c:spPr>
          <c:cat>
            <c:strRef>
              <c:f>Sheet1!$A$2:$A$6</c:f>
              <c:strCache>
                <c:ptCount val="5"/>
                <c:pt idx="0">
                  <c:v>Hotel→Fluent</c:v>
                </c:pt>
                <c:pt idx="1">
                  <c:v>Fluent→STX44</c:v>
                </c:pt>
                <c:pt idx="2">
                  <c:v>STX44→Reader</c:v>
                </c:pt>
                <c:pt idx="3">
                  <c:v>Reader→Fluent</c:v>
                </c:pt>
                <c:pt idx="4">
                  <c:v>Reader→Waste</c:v>
                </c:pt>
              </c:strCache>
            </c:strRef>
          </c:cat>
          <c:val>
            <c:numRef>
              <c:f>Sheet1!$C$2:$C$6</c:f>
              <c:numCache>
                <c:formatCode>General</c:formatCode>
                <c:ptCount val="5"/>
                <c:pt idx="0">
                  <c:v>1.37</c:v>
                </c:pt>
                <c:pt idx="1">
                  <c:v>3.7</c:v>
                </c:pt>
                <c:pt idx="2">
                  <c:v>1.17</c:v>
                </c:pt>
                <c:pt idx="3">
                  <c:v>2.35</c:v>
                </c:pt>
                <c:pt idx="4">
                  <c:v>2.35</c:v>
                </c:pt>
              </c:numCache>
            </c:numRef>
          </c:val>
        </c:ser>
        <c:dLbls>
          <c:numFmt formatCode="0.00&quot;°&quot;" sourceLinked="0"/>
          <c:txPr>
            <a:bodyPr/>
            <a:lstStyle/>
            <a:p>
              <a:pPr>
                <a:defRPr sz="1100"/>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6.0"/>
          <c:min val="0.0"/>
        </c:scaling>
        <c:delete val="0"/>
        <c:axPos val="l"/>
        <c:majorGridlines>
          <c:spPr>
            <a:ln>
              <a:solidFill>
                <a:srgbClr val="E4E8EB"/>
              </a:solidFill>
            </a:ln>
          </c:spPr>
        </c:majorGridlines>
        <c:numFmt formatCode="0&quot;°&quot;" sourceLinked="0"/>
        <c:majorTickMark val="out"/>
        <c:minorTickMark val="none"/>
        <c:tickLblPos val="nextTo"/>
        <c:txPr>
          <a:bodyPr/>
          <a:lstStyle/>
          <a:p>
            <a:pPr>
              <a:defRPr sz="1000">
                <a:solidFill>
                  <a:srgbClr val="5F6B76"/>
                </a:solidFill>
              </a:defRPr>
            </a:pPr>
          </a:p>
        </c:txPr>
        <c:crossAx val="-2068027336"/>
        <c:crosses val="autoZero"/>
        <c:majorUnit val="1.0"/>
      </c:valAx>
    </c:plotArea>
    <c:legend>
      <c:legendPos val="t"/>
      <c:overlay val="0"/>
    </c:legend>
    <c:dispBlanksAs val="gap"/>
  </c:chart>
  <c:txPr>
    <a:bodyPr/>
    <a:lstStyle/>
    <a:p>
      <a:pPr>
        <a:defRPr sz="1200">
          <a:solidFill>
            <a:srgbClr val="1E2933"/>
          </a:solidFill>
          <a:latin typeface="맑은 고딕"/>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로봇이 실험용 plate를 장비 사이로 옮기는 시뮬레이션에서, 장비 크기를 줄인 방법(스케일다운)과 로봇을 움직이는 방법(rule-based)을 중심으로 설명합니다. 마지막에 이번 검증에서 고친 점과 남은 문제를 공유합니다.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숫자 네 개입니다. 구간을 하나씩 돌리면 다섯 개 모두 성공합니다. 하지만 Hotel부터 끝까지 한 번에 이어서 돌리면 여섯 번 모두 같은 곳에서 멈춥니다. 스케일다운 후보 세 개는 뒷부분 깊이를 15, 30, 40% 줄였고, 이번 수정으로 plate 기울기가 크게 줄었습니다.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plate는 액체가 담긴 작은 칸이 여러 개 있는 실험 접시입니다. Hotel에서 꺼내 Fluent에서 처리하고, STX44에서 배양한 뒤 Reader에서 판독합니다. 양성이면 한 번 더 처리하고, 음성이면 Waste에 버립니다. 이 모든 이동을 로봇 한 대가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그림은 장비를 위에서 본 모습입니다. 로봇 쪽 앞면은 고정하고, 뒷벽만 원본 위치에서 C1, C2, C3 위치로 앞으로 당겼습니다. 가로와 높이는 그대로입니다. 이렇게 해야 '장비를 줄여도 같은 로봇 동작이 가능한가'를 공정하게 비교할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표는 줄인 부분만 본 비율입니다. 오른쪽 그래프는 장비 전체 깊이입니다. Fluent는 원본 1,152 mm에서 C3 930 mm로 19% 줄고, STX44는 485에서 291 mm로 40%, Reader는 559에서 355 mm로 36% 줄었습니다. 이 비율은 내부 부품 크기에서 나온 값이 아니라 비교를 위해 정한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충돌 상자는 '로봇이 여기에 닿으면 충돌'을 판정하는 단순한 직육면체입니다. 코드는 앞면 위치를 먼저 계산해 고정하고 깊이만 줄입니다. 5단계 검사 덕분에, 후보 장애물은 항상 원본보다 작거나 같습니다. 그래서 원본에서 충돌하지 않은 경로는 후보에서도 충돌하지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로봇에게 '여기로 가라'를 관절 각도로 알려줘야 합니다. 그리퍼 끝 위치에서 관절 각도를 거꾸로 계산하는 것을 IK(역기구학)라고 하고, 장비마다 이 계산을 미리 해서 숫자로 넣어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plate에는 액체가 담겨 있어서 기울면 안 됩니다. 그래서 들고 이동할 때는 경로를 잘게 나눠 매 점에서 수평을 맞추고, 속도도 절반으로 줄입니다. 4번 수평 보정은 이번에 새로 연결한 기능입니다.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 세 개와 상관없이 같은 곳에서 같은 값으로 멈추므로, 원인은 스케일다운이 아니라 로봇 동작입니다. 또 Fluent→STX44의 STX44_PRE_TRANSIT 단계는 plate를 든 채 어깨를 약 280° 뒤집는 동작이라 불안정합니다.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323F"/>
        </a:solidFill>
        <a:effectLst/>
      </p:bgPr>
    </p:bg>
    <p:spTree>
      <p:nvGrpSpPr>
        <p:cNvPr id="1" name=""/>
        <p:cNvGrpSpPr/>
        <p:nvPr/>
      </p:nvGrpSpPr>
      <p:grpSpPr/>
      <p:sp>
        <p:nvSpPr>
          <p:cNvPr id="2" name="TextBox 1"/>
          <p:cNvSpPr txBox="1"/>
          <p:nvPr/>
        </p:nvSpPr>
        <p:spPr>
          <a:xfrm>
            <a:off x="731520" y="1828800"/>
            <a:ext cx="10515600" cy="457200"/>
          </a:xfrm>
          <a:prstGeom prst="rect">
            <a:avLst/>
          </a:prstGeom>
          <a:noFill/>
        </p:spPr>
        <p:txBody>
          <a:bodyPr wrap="square" anchor="t" lIns="0" rIns="0" tIns="0" bIns="0">
            <a:spAutoFit/>
          </a:bodyPr>
          <a:lstStyle/>
          <a:p>
            <a:pPr algn="l"/>
            <a:r>
              <a:rPr sz="1800" b="1" i="0">
                <a:solidFill>
                  <a:srgbClr val="8FD3C8"/>
                </a:solidFill>
                <a:latin typeface="맑은 고딕"/>
                <a:ea typeface="맑은 고딕"/>
                <a:cs typeface="맑은 고딕"/>
              </a:rPr>
              <a:t>자율 실험실 MuJoCo 시뮬레이션</a:t>
            </a:r>
          </a:p>
        </p:txBody>
      </p:sp>
      <p:sp>
        <p:nvSpPr>
          <p:cNvPr id="3" name="TextBox 2"/>
          <p:cNvSpPr txBox="1"/>
          <p:nvPr/>
        </p:nvSpPr>
        <p:spPr>
          <a:xfrm>
            <a:off x="731520" y="2331720"/>
            <a:ext cx="10515600" cy="1463040"/>
          </a:xfrm>
          <a:prstGeom prst="rect">
            <a:avLst/>
          </a:prstGeom>
          <a:noFill/>
        </p:spPr>
        <p:txBody>
          <a:bodyPr wrap="square" anchor="t" lIns="0" rIns="0" tIns="0" bIns="0">
            <a:spAutoFit/>
          </a:bodyPr>
          <a:lstStyle/>
          <a:p>
            <a:pPr algn="l"/>
            <a:r>
              <a:rPr sz="4000" b="1" i="0">
                <a:solidFill>
                  <a:srgbClr val="FFFFFF"/>
                </a:solidFill>
                <a:latin typeface="맑은 고딕"/>
                <a:ea typeface="맑은 고딕"/>
                <a:cs typeface="맑은 고딕"/>
              </a:rPr>
              <a:t>스케일다운과 rule-based 제어는</a:t>
            </a:r>
          </a:p>
          <a:p>
            <a:pPr algn="l"/>
            <a:r>
              <a:rPr sz="4000" b="1" i="0">
                <a:solidFill>
                  <a:srgbClr val="FFFFFF"/>
                </a:solidFill>
                <a:latin typeface="맑은 고딕"/>
                <a:ea typeface="맑은 고딕"/>
                <a:cs typeface="맑은 고딕"/>
              </a:rPr>
              <a:t>어떻게 구현했나</a:t>
            </a:r>
          </a:p>
        </p:txBody>
      </p:sp>
      <p:sp>
        <p:nvSpPr>
          <p:cNvPr id="4" name="TextBox 3"/>
          <p:cNvSpPr txBox="1"/>
          <p:nvPr/>
        </p:nvSpPr>
        <p:spPr>
          <a:xfrm>
            <a:off x="731520" y="4160520"/>
            <a:ext cx="10515600" cy="457200"/>
          </a:xfrm>
          <a:prstGeom prst="rect">
            <a:avLst/>
          </a:prstGeom>
          <a:noFill/>
        </p:spPr>
        <p:txBody>
          <a:bodyPr wrap="square" anchor="t" lIns="0" rIns="0" tIns="0" bIns="0">
            <a:spAutoFit/>
          </a:bodyPr>
          <a:lstStyle/>
          <a:p>
            <a:pPr algn="l"/>
            <a:r>
              <a:rPr sz="1800" b="0" i="0">
                <a:solidFill>
                  <a:srgbClr val="C9DDE2"/>
                </a:solidFill>
                <a:latin typeface="맑은 고딕"/>
                <a:ea typeface="맑은 고딕"/>
                <a:cs typeface="맑은 고딕"/>
              </a:rPr>
              <a:t>진행 상황 보고 · 2026-10-02</a:t>
            </a:r>
          </a:p>
        </p:txBody>
      </p:sp>
      <p:sp>
        <p:nvSpPr>
          <p:cNvPr id="5" name="Oval 4"/>
          <p:cNvSpPr/>
          <p:nvPr/>
        </p:nvSpPr>
        <p:spPr>
          <a:xfrm>
            <a:off x="9326880" y="4846320"/>
            <a:ext cx="347472" cy="347472"/>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829800" y="484632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19" y="484632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35640" y="484632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0" y="534924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829800" y="534924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332719" y="534924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835640" y="534924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26880" y="585216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829800" y="585216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332719" y="585216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835640" y="5852160"/>
            <a:ext cx="347472" cy="347472"/>
          </a:xfrm>
          <a:prstGeom prst="ellipse">
            <a:avLst/>
          </a:prstGeom>
          <a:solidFill>
            <a:srgbClr val="24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한눈에 보기</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구간은 각각 성공하지만, 이어 붙인 전체 공정은 아직 중간에 멈춘다</a:t>
            </a:r>
          </a:p>
        </p:txBody>
      </p:sp>
      <p:sp>
        <p:nvSpPr>
          <p:cNvPr id="4" name="Rounded Rectangle 3"/>
          <p:cNvSpPr/>
          <p:nvPr/>
        </p:nvSpPr>
        <p:spPr>
          <a:xfrm>
            <a:off x="548640" y="1828800"/>
            <a:ext cx="2606040" cy="2743200"/>
          </a:xfrm>
          <a:prstGeom prst="roundRect">
            <a:avLst>
              <a:gd name="adj" fmla="val 8000"/>
            </a:avLst>
          </a:prstGeom>
          <a:solidFill>
            <a:srgbClr val="E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48840"/>
            <a:ext cx="2194560" cy="914400"/>
          </a:xfrm>
          <a:prstGeom prst="rect">
            <a:avLst/>
          </a:prstGeom>
          <a:noFill/>
        </p:spPr>
        <p:txBody>
          <a:bodyPr wrap="square" anchor="t" lIns="0" rIns="0" tIns="0" bIns="0">
            <a:spAutoFit/>
          </a:bodyPr>
          <a:lstStyle/>
          <a:p>
            <a:pPr algn="l"/>
            <a:r>
              <a:rPr sz="3000" b="1" i="0">
                <a:solidFill>
                  <a:srgbClr val="1F8A7E"/>
                </a:solidFill>
                <a:latin typeface="맑은 고딕"/>
                <a:ea typeface="맑은 고딕"/>
                <a:cs typeface="맑은 고딕"/>
              </a:rPr>
              <a:t>5 / 5</a:t>
            </a:r>
          </a:p>
        </p:txBody>
      </p:sp>
      <p:sp>
        <p:nvSpPr>
          <p:cNvPr id="6" name="TextBox 5"/>
          <p:cNvSpPr txBox="1"/>
          <p:nvPr/>
        </p:nvSpPr>
        <p:spPr>
          <a:xfrm>
            <a:off x="777240" y="3154680"/>
            <a:ext cx="2194560" cy="45720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구간 단독 실행 통과</a:t>
            </a:r>
          </a:p>
        </p:txBody>
      </p:sp>
      <p:sp>
        <p:nvSpPr>
          <p:cNvPr id="7" name="TextBox 6"/>
          <p:cNvSpPr txBox="1"/>
          <p:nvPr/>
        </p:nvSpPr>
        <p:spPr>
          <a:xfrm>
            <a:off x="777240" y="3657600"/>
            <a:ext cx="2194560" cy="118872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10/2 수정 후 Hotel→Fluent 등 5개 이송 구간</a:t>
            </a:r>
          </a:p>
        </p:txBody>
      </p:sp>
      <p:sp>
        <p:nvSpPr>
          <p:cNvPr id="8" name="Rounded Rectangle 7"/>
          <p:cNvSpPr/>
          <p:nvPr/>
        </p:nvSpPr>
        <p:spPr>
          <a:xfrm>
            <a:off x="3383280" y="1828800"/>
            <a:ext cx="2606040" cy="2743200"/>
          </a:xfrm>
          <a:prstGeom prst="roundRect">
            <a:avLst>
              <a:gd name="adj" fmla="val 8000"/>
            </a:avLst>
          </a:prstGeom>
          <a:solidFill>
            <a:srgbClr val="FBE9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2148840"/>
            <a:ext cx="2194560" cy="914400"/>
          </a:xfrm>
          <a:prstGeom prst="rect">
            <a:avLst/>
          </a:prstGeom>
          <a:noFill/>
        </p:spPr>
        <p:txBody>
          <a:bodyPr wrap="square" anchor="t" lIns="0" rIns="0" tIns="0" bIns="0">
            <a:spAutoFit/>
          </a:bodyPr>
          <a:lstStyle/>
          <a:p>
            <a:pPr algn="l"/>
            <a:r>
              <a:rPr sz="3000" b="1" i="0">
                <a:solidFill>
                  <a:srgbClr val="D95D39"/>
                </a:solidFill>
                <a:latin typeface="맑은 고딕"/>
                <a:ea typeface="맑은 고딕"/>
                <a:cs typeface="맑은 고딕"/>
              </a:rPr>
              <a:t>0 / 6</a:t>
            </a:r>
          </a:p>
        </p:txBody>
      </p:sp>
      <p:sp>
        <p:nvSpPr>
          <p:cNvPr id="10" name="TextBox 9"/>
          <p:cNvSpPr txBox="1"/>
          <p:nvPr/>
        </p:nvSpPr>
        <p:spPr>
          <a:xfrm>
            <a:off x="3611880" y="3154680"/>
            <a:ext cx="2194560" cy="45720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연속 공정 통과</a:t>
            </a:r>
          </a:p>
        </p:txBody>
      </p:sp>
      <p:sp>
        <p:nvSpPr>
          <p:cNvPr id="11" name="TextBox 10"/>
          <p:cNvSpPr txBox="1"/>
          <p:nvPr/>
        </p:nvSpPr>
        <p:spPr>
          <a:xfrm>
            <a:off x="3611880" y="3657600"/>
            <a:ext cx="2194560" cy="118872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후보 3개 × 양성·음성. Fluent→STX44에서 멈춤</a:t>
            </a:r>
          </a:p>
        </p:txBody>
      </p:sp>
      <p:sp>
        <p:nvSpPr>
          <p:cNvPr id="12" name="Rounded Rectangle 11"/>
          <p:cNvSpPr/>
          <p:nvPr/>
        </p:nvSpPr>
        <p:spPr>
          <a:xfrm>
            <a:off x="6217920" y="1828800"/>
            <a:ext cx="2606040" cy="274320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148840"/>
            <a:ext cx="2194560" cy="914400"/>
          </a:xfrm>
          <a:prstGeom prst="rect">
            <a:avLst/>
          </a:prstGeom>
          <a:noFill/>
        </p:spPr>
        <p:txBody>
          <a:bodyPr wrap="square" anchor="t" lIns="0" rIns="0" tIns="0" bIns="0">
            <a:spAutoFit/>
          </a:bodyPr>
          <a:lstStyle/>
          <a:p>
            <a:pPr algn="l"/>
            <a:r>
              <a:rPr sz="2400" b="1" i="0">
                <a:solidFill>
                  <a:srgbClr val="16323F"/>
                </a:solidFill>
                <a:latin typeface="맑은 고딕"/>
                <a:ea typeface="맑은 고딕"/>
                <a:cs typeface="맑은 고딕"/>
              </a:rPr>
              <a:t>15·30·40%</a:t>
            </a:r>
          </a:p>
        </p:txBody>
      </p:sp>
      <p:sp>
        <p:nvSpPr>
          <p:cNvPr id="14" name="TextBox 13"/>
          <p:cNvSpPr txBox="1"/>
          <p:nvPr/>
        </p:nvSpPr>
        <p:spPr>
          <a:xfrm>
            <a:off x="6446520" y="3154680"/>
            <a:ext cx="2194560" cy="45720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뒷부분 깊이 축소율</a:t>
            </a:r>
          </a:p>
        </p:txBody>
      </p:sp>
      <p:sp>
        <p:nvSpPr>
          <p:cNvPr id="15" name="TextBox 14"/>
          <p:cNvSpPr txBox="1"/>
          <p:nvPr/>
        </p:nvSpPr>
        <p:spPr>
          <a:xfrm>
            <a:off x="6446520" y="3657600"/>
            <a:ext cx="2194560" cy="118872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C1·C2·C3. 앞면·출입구·로봇은 1:1</a:t>
            </a:r>
          </a:p>
        </p:txBody>
      </p:sp>
      <p:sp>
        <p:nvSpPr>
          <p:cNvPr id="16" name="Rounded Rectangle 15"/>
          <p:cNvSpPr/>
          <p:nvPr/>
        </p:nvSpPr>
        <p:spPr>
          <a:xfrm>
            <a:off x="9052560" y="1828800"/>
            <a:ext cx="2606040" cy="274320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2148840"/>
            <a:ext cx="2194560" cy="914400"/>
          </a:xfrm>
          <a:prstGeom prst="rect">
            <a:avLst/>
          </a:prstGeom>
          <a:noFill/>
        </p:spPr>
        <p:txBody>
          <a:bodyPr wrap="square" anchor="t" lIns="0" rIns="0" tIns="0" bIns="0">
            <a:spAutoFit/>
          </a:bodyPr>
          <a:lstStyle/>
          <a:p>
            <a:pPr algn="l"/>
            <a:r>
              <a:rPr sz="2400" b="1" i="0">
                <a:solidFill>
                  <a:srgbClr val="16323F"/>
                </a:solidFill>
                <a:latin typeface="맑은 고딕"/>
                <a:ea typeface="맑은 고딕"/>
                <a:cs typeface="맑은 고딕"/>
              </a:rPr>
              <a:t>4.82° → 1.37°</a:t>
            </a:r>
          </a:p>
        </p:txBody>
      </p:sp>
      <p:sp>
        <p:nvSpPr>
          <p:cNvPr id="18" name="TextBox 17"/>
          <p:cNvSpPr txBox="1"/>
          <p:nvPr/>
        </p:nvSpPr>
        <p:spPr>
          <a:xfrm>
            <a:off x="9281160" y="3154680"/>
            <a:ext cx="2194560" cy="45720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운반 중 최대 기울기</a:t>
            </a:r>
          </a:p>
        </p:txBody>
      </p:sp>
      <p:sp>
        <p:nvSpPr>
          <p:cNvPr id="19" name="TextBox 18"/>
          <p:cNvSpPr txBox="1"/>
          <p:nvPr/>
        </p:nvSpPr>
        <p:spPr>
          <a:xfrm>
            <a:off x="9281160" y="3657600"/>
            <a:ext cx="2194560" cy="118872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Hotel→Fluent, 수평 보정 연결 후. 실패 기준 5°</a:t>
            </a:r>
          </a:p>
        </p:txBody>
      </p:sp>
      <p:sp>
        <p:nvSpPr>
          <p:cNvPr id="20" name="TextBox 19"/>
          <p:cNvSpPr txBox="1"/>
          <p:nvPr/>
        </p:nvSpPr>
        <p:spPr>
          <a:xfrm>
            <a:off x="548640" y="4937760"/>
            <a:ext cx="11064240" cy="548640"/>
          </a:xfrm>
          <a:prstGeom prst="rect">
            <a:avLst/>
          </a:prstGeom>
          <a:noFill/>
        </p:spPr>
        <p:txBody>
          <a:bodyPr wrap="square" anchor="t" lIns="0" rIns="0" tIns="0" bIns="0">
            <a:spAutoFit/>
          </a:bodyPr>
          <a:lstStyle/>
          <a:p>
            <a:pPr algn="l"/>
            <a:r>
              <a:rPr sz="1400" b="0" i="0">
                <a:solidFill>
                  <a:srgbClr val="5F6B76"/>
                </a:solidFill>
                <a:latin typeface="맑은 고딕"/>
                <a:ea typeface="맑은 고딕"/>
                <a:cs typeface="맑은 고딕"/>
              </a:rPr>
              <a:t>후보 3개의 결과는 지금까지 모두 같다. 로봇이 지나가는 앞면과 출입구를 고정했기 때문이다.</a:t>
            </a:r>
          </a:p>
        </p:txBody>
      </p:sp>
      <p:sp>
        <p:nvSpPr>
          <p:cNvPr id="21" name="TextBox 20"/>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무엇을 시뮬레이션하나</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레일 위 로봇팔 한 대가 plate를 장비 5곳 사이로 옮긴다</a:t>
            </a:r>
          </a:p>
        </p:txBody>
      </p:sp>
      <p:sp>
        <p:nvSpPr>
          <p:cNvPr id="4" name="Rounded Rectangle 3"/>
          <p:cNvSpPr/>
          <p:nvPr/>
        </p:nvSpPr>
        <p:spPr>
          <a:xfrm>
            <a:off x="548640" y="2651760"/>
            <a:ext cx="2377440" cy="105156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1E2933"/>
                </a:solidFill>
                <a:latin typeface="맑은 고딕"/>
                <a:ea typeface="맑은 고딕"/>
                <a:cs typeface="맑은 고딕"/>
              </a:rPr>
              <a:t>Plate Hotel</a:t>
            </a:r>
          </a:p>
          <a:p>
            <a:pPr algn="ctr"/>
            <a:r>
              <a:rPr sz="1300" b="0" i="0">
                <a:solidFill>
                  <a:srgbClr val="5F6B76"/>
                </a:solidFill>
                <a:latin typeface="맑은 고딕"/>
                <a:ea typeface="맑은 고딕"/>
                <a:cs typeface="맑은 고딕"/>
              </a:rPr>
              <a:t>plate 보관</a:t>
            </a:r>
          </a:p>
        </p:txBody>
      </p:sp>
      <p:cxnSp>
        <p:nvCxnSpPr>
          <p:cNvPr id="5" name="Connector 4"/>
          <p:cNvCxnSpPr/>
          <p:nvPr/>
        </p:nvCxnSpPr>
        <p:spPr>
          <a:xfrm>
            <a:off x="2926080" y="3177540"/>
            <a:ext cx="502920" cy="0"/>
          </a:xfrm>
          <a:prstGeom prst="line">
            <a:avLst/>
          </a:prstGeom>
          <a:ln w="2222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429000" y="2651760"/>
            <a:ext cx="2377440" cy="105156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1E2933"/>
                </a:solidFill>
                <a:latin typeface="맑은 고딕"/>
                <a:ea typeface="맑은 고딕"/>
                <a:cs typeface="맑은 고딕"/>
              </a:rPr>
              <a:t>Fluent</a:t>
            </a:r>
          </a:p>
          <a:p>
            <a:pPr algn="ctr"/>
            <a:r>
              <a:rPr sz="1300" b="0" i="0">
                <a:solidFill>
                  <a:srgbClr val="5F6B76"/>
                </a:solidFill>
                <a:latin typeface="맑은 고딕"/>
                <a:ea typeface="맑은 고딕"/>
                <a:cs typeface="맑은 고딕"/>
              </a:rPr>
              <a:t>액체 분주·처리</a:t>
            </a:r>
          </a:p>
        </p:txBody>
      </p:sp>
      <p:cxnSp>
        <p:nvCxnSpPr>
          <p:cNvPr id="7" name="Connector 6"/>
          <p:cNvCxnSpPr/>
          <p:nvPr/>
        </p:nvCxnSpPr>
        <p:spPr>
          <a:xfrm>
            <a:off x="5806440" y="3177540"/>
            <a:ext cx="502920" cy="0"/>
          </a:xfrm>
          <a:prstGeom prst="line">
            <a:avLst/>
          </a:prstGeom>
          <a:ln w="2222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309360" y="2651760"/>
            <a:ext cx="2377440" cy="105156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1E2933"/>
                </a:solidFill>
                <a:latin typeface="맑은 고딕"/>
                <a:ea typeface="맑은 고딕"/>
                <a:cs typeface="맑은 고딕"/>
              </a:rPr>
              <a:t>STX44</a:t>
            </a:r>
          </a:p>
          <a:p>
            <a:pPr algn="ctr"/>
            <a:r>
              <a:rPr sz="1300" b="0" i="0">
                <a:solidFill>
                  <a:srgbClr val="5F6B76"/>
                </a:solidFill>
                <a:latin typeface="맑은 고딕"/>
                <a:ea typeface="맑은 고딕"/>
                <a:cs typeface="맑은 고딕"/>
              </a:rPr>
              <a:t>배양기</a:t>
            </a:r>
          </a:p>
        </p:txBody>
      </p:sp>
      <p:cxnSp>
        <p:nvCxnSpPr>
          <p:cNvPr id="9" name="Connector 8"/>
          <p:cNvCxnSpPr/>
          <p:nvPr/>
        </p:nvCxnSpPr>
        <p:spPr>
          <a:xfrm>
            <a:off x="8686800" y="3177540"/>
            <a:ext cx="502920" cy="0"/>
          </a:xfrm>
          <a:prstGeom prst="line">
            <a:avLst/>
          </a:prstGeom>
          <a:ln w="2222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89720" y="2651760"/>
            <a:ext cx="2377440" cy="1051560"/>
          </a:xfrm>
          <a:prstGeom prst="roundRect">
            <a:avLst>
              <a:gd name="adj" fmla="val 8000"/>
            </a:avLst>
          </a:prstGeom>
          <a:solidFill>
            <a:srgbClr val="E3F2EF"/>
          </a:solidFill>
          <a:ln w="25400">
            <a:solidFill>
              <a:srgbClr val="1F8A7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1E2933"/>
                </a:solidFill>
                <a:latin typeface="맑은 고딕"/>
                <a:ea typeface="맑은 고딕"/>
                <a:cs typeface="맑은 고딕"/>
              </a:rPr>
              <a:t>Reader</a:t>
            </a:r>
          </a:p>
          <a:p>
            <a:pPr algn="ctr"/>
            <a:r>
              <a:rPr sz="1300" b="0" i="0">
                <a:solidFill>
                  <a:srgbClr val="5F6B76"/>
                </a:solidFill>
                <a:latin typeface="맑은 고딕"/>
                <a:ea typeface="맑은 고딕"/>
                <a:cs typeface="맑은 고딕"/>
              </a:rPr>
              <a:t>판독 (양성/음성)</a:t>
            </a:r>
          </a:p>
        </p:txBody>
      </p:sp>
      <p:sp>
        <p:nvSpPr>
          <p:cNvPr id="11" name="Rounded Rectangle 10"/>
          <p:cNvSpPr/>
          <p:nvPr/>
        </p:nvSpPr>
        <p:spPr>
          <a:xfrm>
            <a:off x="9189720" y="4617720"/>
            <a:ext cx="2377440" cy="91440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1E2933"/>
                </a:solidFill>
                <a:latin typeface="맑은 고딕"/>
                <a:ea typeface="맑은 고딕"/>
                <a:cs typeface="맑은 고딕"/>
              </a:rPr>
              <a:t>Waste</a:t>
            </a:r>
          </a:p>
          <a:p>
            <a:pPr algn="ctr"/>
            <a:r>
              <a:rPr sz="1300" b="0" i="0">
                <a:solidFill>
                  <a:srgbClr val="5F6B76"/>
                </a:solidFill>
                <a:latin typeface="맑은 고딕"/>
                <a:ea typeface="맑은 고딕"/>
                <a:cs typeface="맑은 고딕"/>
              </a:rPr>
              <a:t>폐기</a:t>
            </a:r>
          </a:p>
        </p:txBody>
      </p:sp>
      <p:cxnSp>
        <p:nvCxnSpPr>
          <p:cNvPr id="12" name="Connector 11"/>
          <p:cNvCxnSpPr/>
          <p:nvPr/>
        </p:nvCxnSpPr>
        <p:spPr>
          <a:xfrm>
            <a:off x="10378440" y="3703320"/>
            <a:ext cx="0" cy="914400"/>
          </a:xfrm>
          <a:prstGeom prst="line">
            <a:avLst/>
          </a:prstGeom>
          <a:ln w="22225">
            <a:solidFill>
              <a:srgbClr val="D95D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469880" y="3977639"/>
            <a:ext cx="1097280" cy="365760"/>
          </a:xfrm>
          <a:prstGeom prst="rect">
            <a:avLst/>
          </a:prstGeom>
          <a:noFill/>
        </p:spPr>
        <p:txBody>
          <a:bodyPr wrap="square" anchor="t" lIns="0" rIns="0" tIns="0" bIns="0">
            <a:spAutoFit/>
          </a:bodyPr>
          <a:lstStyle/>
          <a:p>
            <a:pPr algn="l"/>
            <a:r>
              <a:rPr sz="1300" b="1" i="0">
                <a:solidFill>
                  <a:srgbClr val="D95D39"/>
                </a:solidFill>
                <a:latin typeface="맑은 고딕"/>
                <a:ea typeface="맑은 고딕"/>
                <a:cs typeface="맑은 고딕"/>
              </a:rPr>
              <a:t>음성</a:t>
            </a:r>
          </a:p>
        </p:txBody>
      </p:sp>
      <p:cxnSp>
        <p:nvCxnSpPr>
          <p:cNvPr id="14" name="Connector 13"/>
          <p:cNvCxnSpPr/>
          <p:nvPr/>
        </p:nvCxnSpPr>
        <p:spPr>
          <a:xfrm flipV="1">
            <a:off x="10378440" y="2103120"/>
            <a:ext cx="0" cy="548640"/>
          </a:xfrm>
          <a:prstGeom prst="line">
            <a:avLst/>
          </a:prstGeom>
          <a:ln w="22225">
            <a:solidFill>
              <a:srgbClr val="1F8A7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4617720" y="2103120"/>
            <a:ext cx="5760720" cy="0"/>
          </a:xfrm>
          <a:prstGeom prst="line">
            <a:avLst/>
          </a:prstGeom>
          <a:ln w="22225">
            <a:solidFill>
              <a:srgbClr val="1F8A7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617720" y="2103120"/>
            <a:ext cx="0" cy="548640"/>
          </a:xfrm>
          <a:prstGeom prst="line">
            <a:avLst/>
          </a:prstGeom>
          <a:ln w="22225">
            <a:solidFill>
              <a:srgbClr val="1F8A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846320" y="1719072"/>
            <a:ext cx="5486400" cy="365760"/>
          </a:xfrm>
          <a:prstGeom prst="rect">
            <a:avLst/>
          </a:prstGeom>
          <a:noFill/>
        </p:spPr>
        <p:txBody>
          <a:bodyPr wrap="square" anchor="t" lIns="0" rIns="0" tIns="0" bIns="0">
            <a:spAutoFit/>
          </a:bodyPr>
          <a:lstStyle/>
          <a:p>
            <a:pPr algn="l"/>
            <a:r>
              <a:rPr sz="1300" b="1" i="0">
                <a:solidFill>
                  <a:srgbClr val="1F8A7E"/>
                </a:solidFill>
                <a:latin typeface="맑은 고딕"/>
                <a:ea typeface="맑은 고딕"/>
                <a:cs typeface="맑은 고딕"/>
              </a:rPr>
              <a:t>양성: Fluent → STX44 → Reader를 한 번 더 거친 뒤 종료</a:t>
            </a:r>
          </a:p>
        </p:txBody>
      </p:sp>
      <p:sp>
        <p:nvSpPr>
          <p:cNvPr id="18" name="Rounded Rectangle 17"/>
          <p:cNvSpPr/>
          <p:nvPr/>
        </p:nvSpPr>
        <p:spPr>
          <a:xfrm>
            <a:off x="548640" y="4617720"/>
            <a:ext cx="8321040" cy="146304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00600"/>
            <a:ext cx="7955279" cy="1188720"/>
          </a:xfrm>
          <a:prstGeom prst="rect">
            <a:avLst/>
          </a:prstGeom>
          <a:noFill/>
        </p:spPr>
        <p:txBody>
          <a:bodyPr wrap="square" lIns="0" rIns="0" tIns="0" bIns="0">
            <a:spAutoFit/>
          </a:bodyPr>
          <a:lstStyle/>
          <a:p>
            <a:pPr marL="201168" indent="-201168">
              <a:spcAft>
                <a:spcPts val="400"/>
              </a:spcAft>
              <a:buChar char="•"/>
            </a:pPr>
            <a:r>
              <a:rPr sz="1400" b="1" i="0">
                <a:solidFill>
                  <a:srgbClr val="1E2933"/>
                </a:solidFill>
                <a:latin typeface="맑은 고딕"/>
                <a:ea typeface="맑은 고딕"/>
                <a:cs typeface="맑은 고딕"/>
              </a:rPr>
              <a:t>로봇: </a:t>
            </a:r>
            <a:r>
              <a:rPr sz="1400" b="0" i="0">
                <a:solidFill>
                  <a:srgbClr val="1E2933"/>
                </a:solidFill>
                <a:latin typeface="맑은 고딕"/>
                <a:ea typeface="맑은 고딕"/>
                <a:cs typeface="맑은 고딕"/>
              </a:rPr>
              <a:t>UR5e 로봇팔(관절 6개) + OnRobot RG6 그리퍼. 레일을 타고 장비 앞으로 이동</a:t>
            </a:r>
          </a:p>
          <a:p>
            <a:pPr marL="201168" indent="-201168">
              <a:spcAft>
                <a:spcPts val="400"/>
              </a:spcAft>
              <a:buChar char="•"/>
            </a:pPr>
            <a:r>
              <a:rPr sz="1400" b="1" i="0">
                <a:solidFill>
                  <a:srgbClr val="1E2933"/>
                </a:solidFill>
                <a:latin typeface="맑은 고딕"/>
                <a:ea typeface="맑은 고딕"/>
                <a:cs typeface="맑은 고딕"/>
              </a:rPr>
              <a:t>시뮬레이터: </a:t>
            </a:r>
            <a:r>
              <a:rPr sz="1400" b="0" i="0">
                <a:solidFill>
                  <a:srgbClr val="1E2933"/>
                </a:solidFill>
                <a:latin typeface="맑은 고딕"/>
                <a:ea typeface="맑은 고딕"/>
                <a:cs typeface="맑은 고딕"/>
              </a:rPr>
              <a:t>MuJoCo. 충돌·중력·관절 힘을 물리 법칙대로 계산</a:t>
            </a:r>
          </a:p>
          <a:p>
            <a:pPr marL="201168" indent="-201168">
              <a:spcAft>
                <a:spcPts val="400"/>
              </a:spcAft>
              <a:buChar char="•"/>
            </a:pPr>
            <a:r>
              <a:rPr sz="1400" b="1" i="0">
                <a:solidFill>
                  <a:srgbClr val="1E2933"/>
                </a:solidFill>
                <a:latin typeface="맑은 고딕"/>
                <a:ea typeface="맑은 고딕"/>
                <a:cs typeface="맑은 고딕"/>
              </a:rPr>
              <a:t>평가: </a:t>
            </a:r>
            <a:r>
              <a:rPr sz="1400" b="0" i="0">
                <a:solidFill>
                  <a:srgbClr val="1E2933"/>
                </a:solidFill>
                <a:latin typeface="맑은 고딕"/>
                <a:ea typeface="맑은 고딕"/>
                <a:cs typeface="맑은 고딕"/>
              </a:rPr>
              <a:t>양성(장비 7곳 경유)과 음성(5곳 경유) 두 경로를 끝까지 실행</a:t>
            </a:r>
          </a:p>
        </p:txBody>
      </p:sp>
      <p:sp>
        <p:nvSpPr>
          <p:cNvPr id="20" name="TextBox 19"/>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323F"/>
        </a:solidFill>
        <a:effectLst/>
      </p:bgPr>
    </p:bg>
    <p:spTree>
      <p:nvGrpSpPr>
        <p:cNvPr id="1" name=""/>
        <p:cNvGrpSpPr/>
        <p:nvPr/>
      </p:nvGrpSpPr>
      <p:grpSpPr/>
      <p:sp>
        <p:nvSpPr>
          <p:cNvPr id="2" name="Oval 1"/>
          <p:cNvSpPr/>
          <p:nvPr/>
        </p:nvSpPr>
        <p:spPr>
          <a:xfrm>
            <a:off x="731520" y="2377440"/>
            <a:ext cx="822960" cy="82296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400" b="1" i="0">
                <a:solidFill>
                  <a:srgbClr val="FFFFFF"/>
                </a:solidFill>
                <a:latin typeface="맑은 고딕"/>
                <a:ea typeface="맑은 고딕"/>
                <a:cs typeface="맑은 고딕"/>
              </a:rPr>
              <a:t>1</a:t>
            </a:r>
          </a:p>
        </p:txBody>
      </p:sp>
      <p:sp>
        <p:nvSpPr>
          <p:cNvPr id="3" name="TextBox 2"/>
          <p:cNvSpPr txBox="1"/>
          <p:nvPr/>
        </p:nvSpPr>
        <p:spPr>
          <a:xfrm>
            <a:off x="1828800" y="2331720"/>
            <a:ext cx="9144000" cy="914400"/>
          </a:xfrm>
          <a:prstGeom prst="rect">
            <a:avLst/>
          </a:prstGeom>
          <a:noFill/>
        </p:spPr>
        <p:txBody>
          <a:bodyPr wrap="square" anchor="t" lIns="0" rIns="0" tIns="0" bIns="0">
            <a:spAutoFit/>
          </a:bodyPr>
          <a:lstStyle/>
          <a:p>
            <a:pPr algn="l"/>
            <a:r>
              <a:rPr sz="4000" b="1" i="0">
                <a:solidFill>
                  <a:srgbClr val="FFFFFF"/>
                </a:solidFill>
                <a:latin typeface="맑은 고딕"/>
                <a:ea typeface="맑은 고딕"/>
                <a:cs typeface="맑은 고딕"/>
              </a:rPr>
              <a:t>스케일다운</a:t>
            </a:r>
          </a:p>
        </p:txBody>
      </p:sp>
      <p:sp>
        <p:nvSpPr>
          <p:cNvPr id="4" name="TextBox 3"/>
          <p:cNvSpPr txBox="1"/>
          <p:nvPr/>
        </p:nvSpPr>
        <p:spPr>
          <a:xfrm>
            <a:off x="1828800" y="3246120"/>
            <a:ext cx="9144000" cy="731520"/>
          </a:xfrm>
          <a:prstGeom prst="rect">
            <a:avLst/>
          </a:prstGeom>
          <a:noFill/>
        </p:spPr>
        <p:txBody>
          <a:bodyPr wrap="square" anchor="t" lIns="0" rIns="0" tIns="0" bIns="0">
            <a:spAutoFit/>
          </a:bodyPr>
          <a:lstStyle/>
          <a:p>
            <a:pPr algn="l"/>
            <a:r>
              <a:rPr sz="1800" b="0" i="0">
                <a:solidFill>
                  <a:srgbClr val="C9DDE2"/>
                </a:solidFill>
                <a:latin typeface="맑은 고딕"/>
                <a:ea typeface="맑은 고딕"/>
                <a:cs typeface="맑은 고딕"/>
              </a:rPr>
              <a:t>장비 뒷부분 깊이만 줄인 후보 3개를 코드가 자동으로 만든다</a:t>
            </a:r>
          </a:p>
        </p:txBody>
      </p:sp>
      <p:sp>
        <p:nvSpPr>
          <p:cNvPr id="5" name="TextBox 4"/>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9FB4BC"/>
                </a:solidFill>
                <a:latin typeface="맑은 고딕"/>
                <a:ea typeface="맑은 고딕"/>
                <a:cs typeface="맑은 고딕"/>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통째로 줄이지 않고, 뒷벽만 앞으로 당겼다</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냉장고의 문과 선반은 그대로 두고 뒷벽만 앞으로 미는 것과 같다</a:t>
            </a:r>
          </a:p>
        </p:txBody>
      </p:sp>
      <p:sp>
        <p:nvSpPr>
          <p:cNvPr id="4" name="TextBox 3"/>
          <p:cNvSpPr txBox="1"/>
          <p:nvPr/>
        </p:nvSpPr>
        <p:spPr>
          <a:xfrm>
            <a:off x="548640" y="1783080"/>
            <a:ext cx="5943600" cy="365760"/>
          </a:xfrm>
          <a:prstGeom prst="rect">
            <a:avLst/>
          </a:prstGeom>
          <a:noFill/>
        </p:spPr>
        <p:txBody>
          <a:bodyPr wrap="square" anchor="t" lIns="0" rIns="0" tIns="0" bIns="0">
            <a:spAutoFit/>
          </a:bodyPr>
          <a:lstStyle/>
          <a:p>
            <a:pPr algn="l"/>
            <a:r>
              <a:rPr sz="1300" b="1" i="0">
                <a:solidFill>
                  <a:srgbClr val="5F6B76"/>
                </a:solidFill>
                <a:latin typeface="맑은 고딕"/>
                <a:ea typeface="맑은 고딕"/>
                <a:cs typeface="맑은 고딕"/>
              </a:rPr>
              <a:t>위에서 내려다본 장비 (예: Fluent)</a:t>
            </a:r>
          </a:p>
        </p:txBody>
      </p:sp>
      <p:sp>
        <p:nvSpPr>
          <p:cNvPr id="5" name="Rounded Rectangle 4"/>
          <p:cNvSpPr/>
          <p:nvPr/>
        </p:nvSpPr>
        <p:spPr>
          <a:xfrm>
            <a:off x="548640" y="2331720"/>
            <a:ext cx="1188720" cy="3291840"/>
          </a:xfrm>
          <a:prstGeom prst="roundRect">
            <a:avLst>
              <a:gd name="adj" fmla="val 8000"/>
            </a:avLst>
          </a:prstGeom>
          <a:solidFill>
            <a:srgbClr val="E3F2EF"/>
          </a:solidFill>
          <a:ln w="15875">
            <a:solidFill>
              <a:srgbClr val="1F8A7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1" i="0">
                <a:solidFill>
                  <a:srgbClr val="1E2933"/>
                </a:solidFill>
                <a:latin typeface="맑은 고딕"/>
                <a:ea typeface="맑은 고딕"/>
                <a:cs typeface="맑은 고딕"/>
              </a:rPr>
              <a:t>로봇</a:t>
            </a:r>
          </a:p>
          <a:p>
            <a:pPr algn="ctr"/>
            <a:r>
              <a:rPr sz="1200" b="0" i="0">
                <a:solidFill>
                  <a:srgbClr val="5F6B76"/>
                </a:solidFill>
                <a:latin typeface="맑은 고딕"/>
                <a:ea typeface="맑은 고딕"/>
                <a:cs typeface="맑은 고딕"/>
              </a:rPr>
              <a:t>레일</a:t>
            </a:r>
          </a:p>
        </p:txBody>
      </p:sp>
      <p:sp>
        <p:nvSpPr>
          <p:cNvPr id="6" name="Rectangle 5"/>
          <p:cNvSpPr/>
          <p:nvPr/>
        </p:nvSpPr>
        <p:spPr>
          <a:xfrm>
            <a:off x="2057400" y="2331720"/>
            <a:ext cx="320040" cy="3291840"/>
          </a:xfrm>
          <a:prstGeom prst="rect">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5715000"/>
            <a:ext cx="1097280" cy="457200"/>
          </a:xfrm>
          <a:prstGeom prst="rect">
            <a:avLst/>
          </a:prstGeom>
          <a:noFill/>
        </p:spPr>
        <p:txBody>
          <a:bodyPr wrap="square" anchor="t" lIns="0" rIns="0" tIns="0" bIns="0">
            <a:spAutoFit/>
          </a:bodyPr>
          <a:lstStyle/>
          <a:p>
            <a:pPr algn="ctr"/>
            <a:r>
              <a:rPr sz="1100" b="1" i="0">
                <a:solidFill>
                  <a:srgbClr val="1F8A7E"/>
                </a:solidFill>
                <a:latin typeface="맑은 고딕"/>
                <a:ea typeface="맑은 고딕"/>
                <a:cs typeface="맑은 고딕"/>
              </a:rPr>
              <a:t>앞면</a:t>
            </a:r>
          </a:p>
          <a:p>
            <a:pPr algn="ctr"/>
            <a:r>
              <a:rPr sz="1100" b="1" i="0">
                <a:solidFill>
                  <a:srgbClr val="1F8A7E"/>
                </a:solidFill>
                <a:latin typeface="맑은 고딕"/>
                <a:ea typeface="맑은 고딕"/>
                <a:cs typeface="맑은 고딕"/>
              </a:rPr>
              <a:t>(고정)</a:t>
            </a:r>
          </a:p>
        </p:txBody>
      </p:sp>
      <p:sp>
        <p:nvSpPr>
          <p:cNvPr id="8" name="Rectangle 7"/>
          <p:cNvSpPr/>
          <p:nvPr/>
        </p:nvSpPr>
        <p:spPr>
          <a:xfrm>
            <a:off x="2377440" y="2331720"/>
            <a:ext cx="3840480" cy="3291840"/>
          </a:xfrm>
          <a:prstGeom prst="rect">
            <a:avLst/>
          </a:prstGeom>
          <a:solidFill>
            <a:srgbClr val="F3F5F6"/>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217920" y="2240280"/>
            <a:ext cx="0" cy="3474720"/>
          </a:xfrm>
          <a:prstGeom prst="line">
            <a:avLst/>
          </a:prstGeom>
          <a:ln w="25400">
            <a:solidFill>
              <a:srgbClr val="1E293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52160" y="1874519"/>
            <a:ext cx="731520" cy="320040"/>
          </a:xfrm>
          <a:prstGeom prst="rect">
            <a:avLst/>
          </a:prstGeom>
          <a:noFill/>
        </p:spPr>
        <p:txBody>
          <a:bodyPr wrap="square" anchor="t" lIns="0" rIns="0" tIns="0" bIns="0">
            <a:spAutoFit/>
          </a:bodyPr>
          <a:lstStyle/>
          <a:p>
            <a:pPr algn="ctr"/>
            <a:r>
              <a:rPr sz="1200" b="1" i="0">
                <a:solidFill>
                  <a:srgbClr val="1E2933"/>
                </a:solidFill>
                <a:latin typeface="맑은 고딕"/>
                <a:ea typeface="맑은 고딕"/>
                <a:cs typeface="맑은 고딕"/>
              </a:rPr>
              <a:t>원본</a:t>
            </a:r>
          </a:p>
        </p:txBody>
      </p:sp>
      <p:cxnSp>
        <p:nvCxnSpPr>
          <p:cNvPr id="11" name="Connector 10"/>
          <p:cNvCxnSpPr/>
          <p:nvPr/>
        </p:nvCxnSpPr>
        <p:spPr>
          <a:xfrm>
            <a:off x="5641848" y="2240280"/>
            <a:ext cx="0" cy="3474720"/>
          </a:xfrm>
          <a:prstGeom prst="line">
            <a:avLst/>
          </a:prstGeom>
          <a:ln w="15875">
            <a:solidFill>
              <a:srgbClr val="5F6B76"/>
            </a:solidFill>
            <a:prstDash val="lg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276088" y="5760720"/>
            <a:ext cx="731520" cy="320040"/>
          </a:xfrm>
          <a:prstGeom prst="rect">
            <a:avLst/>
          </a:prstGeom>
          <a:noFill/>
        </p:spPr>
        <p:txBody>
          <a:bodyPr wrap="square" anchor="t" lIns="0" rIns="0" tIns="0" bIns="0">
            <a:spAutoFit/>
          </a:bodyPr>
          <a:lstStyle/>
          <a:p>
            <a:pPr algn="ctr"/>
            <a:r>
              <a:rPr sz="1200" b="1" i="0">
                <a:solidFill>
                  <a:srgbClr val="5F6B76"/>
                </a:solidFill>
                <a:latin typeface="맑은 고딕"/>
                <a:ea typeface="맑은 고딕"/>
                <a:cs typeface="맑은 고딕"/>
              </a:rPr>
              <a:t>C1</a:t>
            </a:r>
          </a:p>
        </p:txBody>
      </p:sp>
      <p:cxnSp>
        <p:nvCxnSpPr>
          <p:cNvPr id="13" name="Connector 12"/>
          <p:cNvCxnSpPr/>
          <p:nvPr/>
        </p:nvCxnSpPr>
        <p:spPr>
          <a:xfrm>
            <a:off x="5065776" y="2240280"/>
            <a:ext cx="0" cy="3474720"/>
          </a:xfrm>
          <a:prstGeom prst="line">
            <a:avLst/>
          </a:prstGeom>
          <a:ln w="15875">
            <a:solidFill>
              <a:srgbClr val="5F6B76"/>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700016" y="1874519"/>
            <a:ext cx="731520" cy="320040"/>
          </a:xfrm>
          <a:prstGeom prst="rect">
            <a:avLst/>
          </a:prstGeom>
          <a:noFill/>
        </p:spPr>
        <p:txBody>
          <a:bodyPr wrap="square" anchor="t" lIns="0" rIns="0" tIns="0" bIns="0">
            <a:spAutoFit/>
          </a:bodyPr>
          <a:lstStyle/>
          <a:p>
            <a:pPr algn="ctr"/>
            <a:r>
              <a:rPr sz="1200" b="1" i="0">
                <a:solidFill>
                  <a:srgbClr val="5F6B76"/>
                </a:solidFill>
                <a:latin typeface="맑은 고딕"/>
                <a:ea typeface="맑은 고딕"/>
                <a:cs typeface="맑은 고딕"/>
              </a:rPr>
              <a:t>C2</a:t>
            </a:r>
          </a:p>
        </p:txBody>
      </p:sp>
      <p:cxnSp>
        <p:nvCxnSpPr>
          <p:cNvPr id="15" name="Connector 14"/>
          <p:cNvCxnSpPr/>
          <p:nvPr/>
        </p:nvCxnSpPr>
        <p:spPr>
          <a:xfrm>
            <a:off x="4681728" y="2240280"/>
            <a:ext cx="0" cy="3474720"/>
          </a:xfrm>
          <a:prstGeom prst="line">
            <a:avLst/>
          </a:prstGeom>
          <a:ln w="25400">
            <a:solidFill>
              <a:srgbClr val="D95D39"/>
            </a:solidFill>
            <a:prstDash val="lg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15968" y="5760720"/>
            <a:ext cx="731520" cy="320040"/>
          </a:xfrm>
          <a:prstGeom prst="rect">
            <a:avLst/>
          </a:prstGeom>
          <a:noFill/>
        </p:spPr>
        <p:txBody>
          <a:bodyPr wrap="square" anchor="t" lIns="0" rIns="0" tIns="0" bIns="0">
            <a:spAutoFit/>
          </a:bodyPr>
          <a:lstStyle/>
          <a:p>
            <a:pPr algn="ctr"/>
            <a:r>
              <a:rPr sz="1200" b="1" i="0">
                <a:solidFill>
                  <a:srgbClr val="D95D39"/>
                </a:solidFill>
                <a:latin typeface="맑은 고딕"/>
                <a:ea typeface="맑은 고딕"/>
                <a:cs typeface="맑은 고딕"/>
              </a:rPr>
              <a:t>C3</a:t>
            </a:r>
          </a:p>
        </p:txBody>
      </p:sp>
      <p:cxnSp>
        <p:nvCxnSpPr>
          <p:cNvPr id="17" name="Connector 16"/>
          <p:cNvCxnSpPr/>
          <p:nvPr/>
        </p:nvCxnSpPr>
        <p:spPr>
          <a:xfrm flipH="1">
            <a:off x="4727448" y="3977639"/>
            <a:ext cx="1444752" cy="0"/>
          </a:xfrm>
          <a:prstGeom prst="line">
            <a:avLst/>
          </a:prstGeom>
          <a:ln w="28575">
            <a:solidFill>
              <a:srgbClr val="D95D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990088" y="3794760"/>
            <a:ext cx="1554480" cy="365760"/>
          </a:xfrm>
          <a:prstGeom prst="rect">
            <a:avLst/>
          </a:prstGeom>
          <a:noFill/>
        </p:spPr>
        <p:txBody>
          <a:bodyPr wrap="square" anchor="t" lIns="0" rIns="0" tIns="0" bIns="0">
            <a:spAutoFit/>
          </a:bodyPr>
          <a:lstStyle/>
          <a:p>
            <a:pPr algn="r"/>
            <a:r>
              <a:rPr sz="1200" b="1" i="0">
                <a:solidFill>
                  <a:srgbClr val="D95D39"/>
                </a:solidFill>
                <a:latin typeface="맑은 고딕"/>
                <a:ea typeface="맑은 고딕"/>
                <a:cs typeface="맑은 고딕"/>
              </a:rPr>
              <a:t>← 뒷벽만 앞으로</a:t>
            </a:r>
          </a:p>
        </p:txBody>
      </p:sp>
      <p:sp>
        <p:nvSpPr>
          <p:cNvPr id="19" name="Rounded Rectangle 18"/>
          <p:cNvSpPr/>
          <p:nvPr/>
        </p:nvSpPr>
        <p:spPr>
          <a:xfrm>
            <a:off x="6858000" y="1783080"/>
            <a:ext cx="4800600" cy="434340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2011680"/>
            <a:ext cx="4297680" cy="365760"/>
          </a:xfrm>
          <a:prstGeom prst="rect">
            <a:avLst/>
          </a:prstGeom>
          <a:noFill/>
        </p:spPr>
        <p:txBody>
          <a:bodyPr wrap="square" anchor="t" lIns="0" rIns="0" tIns="0" bIns="0">
            <a:spAutoFit/>
          </a:bodyPr>
          <a:lstStyle/>
          <a:p>
            <a:pPr algn="l"/>
            <a:r>
              <a:rPr sz="1600" b="1" i="0">
                <a:solidFill>
                  <a:srgbClr val="1F8A7E"/>
                </a:solidFill>
                <a:latin typeface="맑은 고딕"/>
                <a:ea typeface="맑은 고딕"/>
                <a:cs typeface="맑은 고딕"/>
              </a:rPr>
              <a:t>1:1로 그대로 둔 것</a:t>
            </a:r>
          </a:p>
        </p:txBody>
      </p:sp>
      <p:sp>
        <p:nvSpPr>
          <p:cNvPr id="21" name="TextBox 20"/>
          <p:cNvSpPr txBox="1"/>
          <p:nvPr/>
        </p:nvSpPr>
        <p:spPr>
          <a:xfrm>
            <a:off x="7132320" y="2423160"/>
            <a:ext cx="4297680" cy="1371600"/>
          </a:xfrm>
          <a:prstGeom prst="rect">
            <a:avLst/>
          </a:prstGeom>
          <a:noFill/>
        </p:spPr>
        <p:txBody>
          <a:bodyPr wrap="square" lIns="0" rIns="0" tIns="0" bIns="0">
            <a:spAutoFit/>
          </a:bodyPr>
          <a:lstStyle/>
          <a:p>
            <a:pPr marL="201168" indent="-201168">
              <a:spcAft>
                <a:spcPts val="400"/>
              </a:spcAft>
              <a:buChar char="•"/>
            </a:pPr>
            <a:r>
              <a:rPr sz="1400" b="0" i="0">
                <a:solidFill>
                  <a:srgbClr val="1E2933"/>
                </a:solidFill>
                <a:latin typeface="맑은 고딕"/>
                <a:ea typeface="맑은 고딕"/>
                <a:cs typeface="맑은 고딕"/>
              </a:rPr>
              <a:t>UR5e 로봇팔, RG6 그리퍼, plate</a:t>
            </a:r>
          </a:p>
          <a:p>
            <a:pPr marL="201168" indent="-201168">
              <a:spcAft>
                <a:spcPts val="400"/>
              </a:spcAft>
              <a:buChar char="•"/>
            </a:pPr>
            <a:r>
              <a:rPr sz="1400" b="0" i="0">
                <a:solidFill>
                  <a:srgbClr val="1E2933"/>
                </a:solidFill>
                <a:latin typeface="맑은 고딕"/>
                <a:ea typeface="맑은 고딕"/>
                <a:cs typeface="맑은 고딕"/>
              </a:rPr>
              <a:t>장비 출입구 프레임, 유리문</a:t>
            </a:r>
          </a:p>
          <a:p>
            <a:pPr marL="201168" indent="-201168">
              <a:spcAft>
                <a:spcPts val="400"/>
              </a:spcAft>
              <a:buChar char="•"/>
            </a:pPr>
            <a:r>
              <a:rPr sz="1400" b="0" i="0">
                <a:solidFill>
                  <a:srgbClr val="1E2933"/>
                </a:solidFill>
                <a:latin typeface="맑은 고딕"/>
                <a:ea typeface="맑은 고딕"/>
                <a:cs typeface="맑은 고딕"/>
              </a:rPr>
              <a:t>plate 받침대와 작업 위치 (22개 항목)</a:t>
            </a:r>
          </a:p>
        </p:txBody>
      </p:sp>
      <p:sp>
        <p:nvSpPr>
          <p:cNvPr id="22" name="TextBox 21"/>
          <p:cNvSpPr txBox="1"/>
          <p:nvPr/>
        </p:nvSpPr>
        <p:spPr>
          <a:xfrm>
            <a:off x="7132320" y="3703320"/>
            <a:ext cx="4297680" cy="365760"/>
          </a:xfrm>
          <a:prstGeom prst="rect">
            <a:avLst/>
          </a:prstGeom>
          <a:noFill/>
        </p:spPr>
        <p:txBody>
          <a:bodyPr wrap="square" anchor="t" lIns="0" rIns="0" tIns="0" bIns="0">
            <a:spAutoFit/>
          </a:bodyPr>
          <a:lstStyle/>
          <a:p>
            <a:pPr algn="l"/>
            <a:r>
              <a:rPr sz="1600" b="1" i="0">
                <a:solidFill>
                  <a:srgbClr val="D95D39"/>
                </a:solidFill>
                <a:latin typeface="맑은 고딕"/>
                <a:ea typeface="맑은 고딕"/>
                <a:cs typeface="맑은 고딕"/>
              </a:rPr>
              <a:t>줄인 것</a:t>
            </a:r>
          </a:p>
        </p:txBody>
      </p:sp>
      <p:sp>
        <p:nvSpPr>
          <p:cNvPr id="23" name="TextBox 22"/>
          <p:cNvSpPr txBox="1"/>
          <p:nvPr/>
        </p:nvSpPr>
        <p:spPr>
          <a:xfrm>
            <a:off x="7132320" y="4114800"/>
            <a:ext cx="4297680" cy="548640"/>
          </a:xfrm>
          <a:prstGeom prst="rect">
            <a:avLst/>
          </a:prstGeom>
          <a:noFill/>
        </p:spPr>
        <p:txBody>
          <a:bodyPr wrap="square" lIns="0" rIns="0" tIns="0" bIns="0">
            <a:spAutoFit/>
          </a:bodyPr>
          <a:lstStyle/>
          <a:p>
            <a:pPr marL="201168" indent="-201168">
              <a:spcAft>
                <a:spcPts val="800"/>
              </a:spcAft>
              <a:buChar char="•"/>
            </a:pPr>
            <a:r>
              <a:rPr sz="1400" b="0" i="0">
                <a:solidFill>
                  <a:srgbClr val="1E2933"/>
                </a:solidFill>
                <a:latin typeface="맑은 고딕"/>
                <a:ea typeface="맑은 고딕"/>
                <a:cs typeface="맑은 고딕"/>
              </a:rPr>
              <a:t>Fluent·STX44·Reader 뒷몸체의 깊이(앞뒤 길이)만</a:t>
            </a:r>
          </a:p>
        </p:txBody>
      </p:sp>
      <p:sp>
        <p:nvSpPr>
          <p:cNvPr id="24" name="TextBox 23"/>
          <p:cNvSpPr txBox="1"/>
          <p:nvPr/>
        </p:nvSpPr>
        <p:spPr>
          <a:xfrm>
            <a:off x="7132320" y="4754880"/>
            <a:ext cx="4297680" cy="118872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통째로 줄이면 출입구와 받침대 위치가 바뀌어 로봇 동작을 전부 다시 만들어야 한다. 그러면 공정한 비교가 안 된다.</a:t>
            </a:r>
          </a:p>
        </p:txBody>
      </p:sp>
      <p:sp>
        <p:nvSpPr>
          <p:cNvPr id="25" name="TextBox 24"/>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얼마나 줄였나</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뒷부분은 15·30·40% 줄였고, 장비 전체 깊이로는 장비마다 다르게 줄었다</a:t>
            </a:r>
          </a:p>
        </p:txBody>
      </p:sp>
      <p:graphicFrame>
        <p:nvGraphicFramePr>
          <p:cNvPr id="4" name="Table 3"/>
          <p:cNvGraphicFramePr>
            <a:graphicFrameLocks noGrp="1"/>
          </p:cNvGraphicFramePr>
          <p:nvPr/>
        </p:nvGraphicFramePr>
        <p:xfrm>
          <a:off x="548640" y="1920240"/>
          <a:ext cx="4206240" cy="2011680"/>
        </p:xfrm>
        <a:graphic>
          <a:graphicData uri="http://schemas.openxmlformats.org/drawingml/2006/table">
            <a:tbl>
              <a:tblPr firstRow="1" bandRow="1">
                <a:tableStyleId>{5C22544A-7EE6-4342-B048-85BDC9FD1C3A}</a:tableStyleId>
              </a:tblPr>
              <a:tblGrid>
                <a:gridCol w="1554480"/>
                <a:gridCol w="1463040"/>
                <a:gridCol w="1188720"/>
              </a:tblGrid>
              <a:tr h="502920">
                <a:tc>
                  <a:txBody>
                    <a:bodyPr/>
                    <a:lstStyle/>
                    <a:p>
                      <a:pPr algn="l"/>
                      <a:r>
                        <a:rPr sz="1400" b="1" i="0">
                          <a:solidFill>
                            <a:srgbClr val="FFFFFF"/>
                          </a:solidFill>
                          <a:latin typeface="맑은 고딕"/>
                          <a:ea typeface="맑은 고딕"/>
                          <a:cs typeface="맑은 고딕"/>
                        </a:rPr>
                        <a:t>후보</a:t>
                      </a:r>
                    </a:p>
                  </a:txBody>
                  <a:tcPr anchor="ctr">
                    <a:solidFill>
                      <a:srgbClr val="16323F"/>
                    </a:solidFill>
                  </a:tcPr>
                </a:tc>
                <a:tc>
                  <a:txBody>
                    <a:bodyPr/>
                    <a:lstStyle/>
                    <a:p>
                      <a:pPr algn="ctr"/>
                      <a:r>
                        <a:rPr sz="1400" b="1" i="0">
                          <a:solidFill>
                            <a:srgbClr val="FFFFFF"/>
                          </a:solidFill>
                          <a:latin typeface="맑은 고딕"/>
                          <a:ea typeface="맑은 고딕"/>
                          <a:cs typeface="맑은 고딕"/>
                        </a:rPr>
                        <a:t>원본 : 후보</a:t>
                      </a:r>
                    </a:p>
                  </a:txBody>
                  <a:tcPr anchor="ctr">
                    <a:solidFill>
                      <a:srgbClr val="16323F"/>
                    </a:solidFill>
                  </a:tcPr>
                </a:tc>
                <a:tc>
                  <a:txBody>
                    <a:bodyPr/>
                    <a:lstStyle/>
                    <a:p>
                      <a:pPr algn="ctr"/>
                      <a:r>
                        <a:rPr sz="1400" b="1" i="0">
                          <a:solidFill>
                            <a:srgbClr val="FFFFFF"/>
                          </a:solidFill>
                          <a:latin typeface="맑은 고딕"/>
                          <a:ea typeface="맑은 고딕"/>
                          <a:cs typeface="맑은 고딕"/>
                        </a:rPr>
                        <a:t>축소율</a:t>
                      </a:r>
                    </a:p>
                  </a:txBody>
                  <a:tcPr anchor="ctr">
                    <a:solidFill>
                      <a:srgbClr val="16323F"/>
                    </a:solidFill>
                  </a:tcPr>
                </a:tc>
              </a:tr>
              <a:tr h="502920">
                <a:tc>
                  <a:txBody>
                    <a:bodyPr/>
                    <a:lstStyle/>
                    <a:p>
                      <a:pPr algn="l"/>
                      <a:r>
                        <a:rPr sz="1400" b="1" i="0">
                          <a:solidFill>
                            <a:srgbClr val="1E2933"/>
                          </a:solidFill>
                          <a:latin typeface="맑은 고딕"/>
                          <a:ea typeface="맑은 고딕"/>
                          <a:cs typeface="맑은 고딕"/>
                        </a:rPr>
                        <a:t>C1 보수안</a:t>
                      </a:r>
                    </a:p>
                  </a:txBody>
                  <a:tcPr anchor="ctr">
                    <a:solidFill>
                      <a:srgbClr val="FFFFFF"/>
                    </a:solidFill>
                  </a:tcPr>
                </a:tc>
                <a:tc>
                  <a:txBody>
                    <a:bodyPr/>
                    <a:lstStyle/>
                    <a:p>
                      <a:pPr algn="ctr"/>
                      <a:r>
                        <a:rPr sz="1400" b="0" i="0">
                          <a:solidFill>
                            <a:srgbClr val="1E2933"/>
                          </a:solidFill>
                          <a:latin typeface="맑은 고딕"/>
                          <a:ea typeface="맑은 고딕"/>
                          <a:cs typeface="맑은 고딕"/>
                        </a:rPr>
                        <a:t>1 : 0.85</a:t>
                      </a:r>
                    </a:p>
                  </a:txBody>
                  <a:tcPr anchor="ctr">
                    <a:solidFill>
                      <a:srgbClr val="FFFFFF"/>
                    </a:solidFill>
                  </a:tcPr>
                </a:tc>
                <a:tc>
                  <a:txBody>
                    <a:bodyPr/>
                    <a:lstStyle/>
                    <a:p>
                      <a:pPr algn="ctr"/>
                      <a:r>
                        <a:rPr sz="1400" b="0" i="0">
                          <a:solidFill>
                            <a:srgbClr val="1E2933"/>
                          </a:solidFill>
                          <a:latin typeface="맑은 고딕"/>
                          <a:ea typeface="맑은 고딕"/>
                          <a:cs typeface="맑은 고딕"/>
                        </a:rPr>
                        <a:t>15 %</a:t>
                      </a:r>
                    </a:p>
                  </a:txBody>
                  <a:tcPr anchor="ctr">
                    <a:solidFill>
                      <a:srgbClr val="FFFFFF"/>
                    </a:solidFill>
                  </a:tcPr>
                </a:tc>
              </a:tr>
              <a:tr h="502920">
                <a:tc>
                  <a:txBody>
                    <a:bodyPr/>
                    <a:lstStyle/>
                    <a:p>
                      <a:pPr algn="l"/>
                      <a:r>
                        <a:rPr sz="1400" b="1" i="0">
                          <a:solidFill>
                            <a:srgbClr val="1E2933"/>
                          </a:solidFill>
                          <a:latin typeface="맑은 고딕"/>
                          <a:ea typeface="맑은 고딕"/>
                          <a:cs typeface="맑은 고딕"/>
                        </a:rPr>
                        <a:t>C2 기준안</a:t>
                      </a:r>
                    </a:p>
                  </a:txBody>
                  <a:tcPr anchor="ctr">
                    <a:solidFill>
                      <a:srgbClr val="F3F5F6"/>
                    </a:solidFill>
                  </a:tcPr>
                </a:tc>
                <a:tc>
                  <a:txBody>
                    <a:bodyPr/>
                    <a:lstStyle/>
                    <a:p>
                      <a:pPr algn="ctr"/>
                      <a:r>
                        <a:rPr sz="1400" b="0" i="0">
                          <a:solidFill>
                            <a:srgbClr val="1E2933"/>
                          </a:solidFill>
                          <a:latin typeface="맑은 고딕"/>
                          <a:ea typeface="맑은 고딕"/>
                          <a:cs typeface="맑은 고딕"/>
                        </a:rPr>
                        <a:t>1 : 0.70</a:t>
                      </a:r>
                    </a:p>
                  </a:txBody>
                  <a:tcPr anchor="ctr">
                    <a:solidFill>
                      <a:srgbClr val="F3F5F6"/>
                    </a:solidFill>
                  </a:tcPr>
                </a:tc>
                <a:tc>
                  <a:txBody>
                    <a:bodyPr/>
                    <a:lstStyle/>
                    <a:p>
                      <a:pPr algn="ctr"/>
                      <a:r>
                        <a:rPr sz="1400" b="0" i="0">
                          <a:solidFill>
                            <a:srgbClr val="1E2933"/>
                          </a:solidFill>
                          <a:latin typeface="맑은 고딕"/>
                          <a:ea typeface="맑은 고딕"/>
                          <a:cs typeface="맑은 고딕"/>
                        </a:rPr>
                        <a:t>30 %</a:t>
                      </a:r>
                    </a:p>
                  </a:txBody>
                  <a:tcPr anchor="ctr">
                    <a:solidFill>
                      <a:srgbClr val="F3F5F6"/>
                    </a:solidFill>
                  </a:tcPr>
                </a:tc>
              </a:tr>
              <a:tr h="502920">
                <a:tc>
                  <a:txBody>
                    <a:bodyPr/>
                    <a:lstStyle/>
                    <a:p>
                      <a:pPr algn="l"/>
                      <a:r>
                        <a:rPr sz="1400" b="1" i="0">
                          <a:solidFill>
                            <a:srgbClr val="1E2933"/>
                          </a:solidFill>
                          <a:latin typeface="맑은 고딕"/>
                          <a:ea typeface="맑은 고딕"/>
                          <a:cs typeface="맑은 고딕"/>
                        </a:rPr>
                        <a:t>C3 공격안</a:t>
                      </a:r>
                    </a:p>
                  </a:txBody>
                  <a:tcPr anchor="ctr">
                    <a:solidFill>
                      <a:srgbClr val="FFFFFF"/>
                    </a:solidFill>
                  </a:tcPr>
                </a:tc>
                <a:tc>
                  <a:txBody>
                    <a:bodyPr/>
                    <a:lstStyle/>
                    <a:p>
                      <a:pPr algn="ctr"/>
                      <a:r>
                        <a:rPr sz="1400" b="0" i="0">
                          <a:solidFill>
                            <a:srgbClr val="1E2933"/>
                          </a:solidFill>
                          <a:latin typeface="맑은 고딕"/>
                          <a:ea typeface="맑은 고딕"/>
                          <a:cs typeface="맑은 고딕"/>
                        </a:rPr>
                        <a:t>1 : 0.60</a:t>
                      </a:r>
                    </a:p>
                  </a:txBody>
                  <a:tcPr anchor="ctr">
                    <a:solidFill>
                      <a:srgbClr val="FFFFFF"/>
                    </a:solidFill>
                  </a:tcPr>
                </a:tc>
                <a:tc>
                  <a:txBody>
                    <a:bodyPr/>
                    <a:lstStyle/>
                    <a:p>
                      <a:pPr algn="ctr"/>
                      <a:r>
                        <a:rPr sz="1400" b="0" i="0">
                          <a:solidFill>
                            <a:srgbClr val="1E2933"/>
                          </a:solidFill>
                          <a:latin typeface="맑은 고딕"/>
                          <a:ea typeface="맑은 고딕"/>
                          <a:cs typeface="맑은 고딕"/>
                        </a:rPr>
                        <a:t>40 %</a:t>
                      </a:r>
                    </a:p>
                  </a:txBody>
                  <a:tcPr anchor="ctr">
                    <a:solidFill>
                      <a:srgbClr val="FFFFFF"/>
                    </a:solidFill>
                  </a:tcPr>
                </a:tc>
              </a:tr>
            </a:tbl>
          </a:graphicData>
        </a:graphic>
      </p:graphicFrame>
      <p:sp>
        <p:nvSpPr>
          <p:cNvPr id="5" name="TextBox 4"/>
          <p:cNvSpPr txBox="1"/>
          <p:nvPr/>
        </p:nvSpPr>
        <p:spPr>
          <a:xfrm>
            <a:off x="548640" y="4160520"/>
            <a:ext cx="4206240" cy="36576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뒷부분(rear-shell) 깊이 기준. 가로·높이는 모두 1:1.</a:t>
            </a:r>
          </a:p>
        </p:txBody>
      </p:sp>
      <p:sp>
        <p:nvSpPr>
          <p:cNvPr id="6" name="Rounded Rectangle 5"/>
          <p:cNvSpPr/>
          <p:nvPr/>
        </p:nvSpPr>
        <p:spPr>
          <a:xfrm>
            <a:off x="548640" y="4709160"/>
            <a:ext cx="4206240" cy="141732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846320"/>
            <a:ext cx="3840480" cy="1188720"/>
          </a:xfrm>
          <a:prstGeom prst="rect">
            <a:avLst/>
          </a:prstGeom>
          <a:noFill/>
        </p:spPr>
        <p:txBody>
          <a:bodyPr wrap="square" anchor="t" lIns="0" rIns="0" tIns="0" bIns="0">
            <a:spAutoFit/>
          </a:bodyPr>
          <a:lstStyle/>
          <a:p>
            <a:pPr algn="l"/>
            <a:r>
              <a:rPr sz="1300" b="0" i="0">
                <a:solidFill>
                  <a:srgbClr val="1E2933"/>
                </a:solidFill>
                <a:latin typeface="맑은 고딕"/>
                <a:ea typeface="맑은 고딕"/>
                <a:cs typeface="맑은 고딕"/>
              </a:rPr>
              <a:t>Fluent는 앞쪽 작업 공간이 커서 </a:t>
            </a:r>
            <a:r>
              <a:rPr sz="1300" b="1" i="0">
                <a:solidFill>
                  <a:srgbClr val="1E2933"/>
                </a:solidFill>
                <a:latin typeface="맑은 고딕"/>
                <a:ea typeface="맑은 고딕"/>
                <a:cs typeface="맑은 고딕"/>
              </a:rPr>
              <a:t>뒷부분을 40% 줄여도 전체 깊이는 19%</a:t>
            </a:r>
            <a:r>
              <a:rPr sz="1300" b="0" i="0">
                <a:solidFill>
                  <a:srgbClr val="1E2933"/>
                </a:solidFill>
                <a:latin typeface="맑은 고딕"/>
                <a:ea typeface="맑은 고딕"/>
                <a:cs typeface="맑은 고딕"/>
              </a:rPr>
              <a:t>만 줄어든다. STX44는 몸체 전체가 대상이라 40%가 그대로 반영된다.</a:t>
            </a:r>
          </a:p>
        </p:txBody>
      </p:sp>
      <p:graphicFrame>
        <p:nvGraphicFramePr>
          <p:cNvPr id="8" name="Chart 7"/>
          <p:cNvGraphicFramePr>
            <a:graphicFrameLocks noGrp="1"/>
          </p:cNvGraphicFramePr>
          <p:nvPr/>
        </p:nvGraphicFramePr>
        <p:xfrm>
          <a:off x="5120640" y="1783080"/>
          <a:ext cx="6537960" cy="4434840"/>
        </p:xfrm>
        <a:graphic>
          <a:graphicData uri="http://schemas.openxmlformats.org/drawingml/2006/chart">
            <c:chart xmlns:c="http://schemas.openxmlformats.org/drawingml/2006/chart" r:id="rId2"/>
          </a:graphicData>
        </a:graphic>
      </p:graphicFrame>
      <p:sp>
        <p:nvSpPr>
          <p:cNvPr id="9" name="TextBox 8"/>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코드가 후보를 만드는 6단계</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scripts/generate_scale_down_proxy_models.py</a:t>
            </a:r>
          </a:p>
        </p:txBody>
      </p:sp>
      <p:sp>
        <p:nvSpPr>
          <p:cNvPr id="4" name="Rounded Rectangle 3"/>
          <p:cNvSpPr/>
          <p:nvPr/>
        </p:nvSpPr>
        <p:spPr>
          <a:xfrm>
            <a:off x="548640" y="1828800"/>
            <a:ext cx="3520440" cy="160020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084832"/>
            <a:ext cx="457200" cy="45720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1</a:t>
            </a:r>
          </a:p>
        </p:txBody>
      </p:sp>
      <p:sp>
        <p:nvSpPr>
          <p:cNvPr id="6" name="TextBox 5"/>
          <p:cNvSpPr txBox="1"/>
          <p:nvPr/>
        </p:nvSpPr>
        <p:spPr>
          <a:xfrm>
            <a:off x="1371600" y="2103120"/>
            <a:ext cx="2560320" cy="41148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원본 읽기</a:t>
            </a:r>
          </a:p>
        </p:txBody>
      </p:sp>
      <p:sp>
        <p:nvSpPr>
          <p:cNvPr id="7" name="TextBox 6"/>
          <p:cNvSpPr txBox="1"/>
          <p:nvPr/>
        </p:nvSpPr>
        <p:spPr>
          <a:xfrm>
            <a:off x="1371600" y="2560320"/>
            <a:ext cx="2606040" cy="82296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models/autonomous_lab.xml</a:t>
            </a:r>
          </a:p>
        </p:txBody>
      </p:sp>
      <p:sp>
        <p:nvSpPr>
          <p:cNvPr id="8" name="Rounded Rectangle 7"/>
          <p:cNvSpPr/>
          <p:nvPr/>
        </p:nvSpPr>
        <p:spPr>
          <a:xfrm>
            <a:off x="4343400" y="1828800"/>
            <a:ext cx="3520440" cy="160020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72000" y="2084832"/>
            <a:ext cx="457200" cy="45720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2</a:t>
            </a:r>
          </a:p>
        </p:txBody>
      </p:sp>
      <p:sp>
        <p:nvSpPr>
          <p:cNvPr id="10" name="TextBox 9"/>
          <p:cNvSpPr txBox="1"/>
          <p:nvPr/>
        </p:nvSpPr>
        <p:spPr>
          <a:xfrm>
            <a:off x="5166360" y="2103120"/>
            <a:ext cx="2560320" cy="41148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뒷몸체 상자 찾기</a:t>
            </a:r>
          </a:p>
        </p:txBody>
      </p:sp>
      <p:sp>
        <p:nvSpPr>
          <p:cNvPr id="11" name="TextBox 10"/>
          <p:cNvSpPr txBox="1"/>
          <p:nvPr/>
        </p:nvSpPr>
        <p:spPr>
          <a:xfrm>
            <a:off x="5166360" y="2560320"/>
            <a:ext cx="2606040" cy="82296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충돌 상자 4개</a:t>
            </a:r>
          </a:p>
          <a:p>
            <a:pPr algn="l"/>
            <a:r>
              <a:rPr sz="1200" b="0" i="0">
                <a:solidFill>
                  <a:srgbClr val="5F6B76"/>
                </a:solidFill>
                <a:latin typeface="맑은 고딕"/>
                <a:ea typeface="맑은 고딕"/>
                <a:cs typeface="맑은 고딕"/>
              </a:rPr>
              <a:t>Fluent 1·STX44 2·Reader 1</a:t>
            </a:r>
          </a:p>
        </p:txBody>
      </p:sp>
      <p:sp>
        <p:nvSpPr>
          <p:cNvPr id="12" name="Rounded Rectangle 11"/>
          <p:cNvSpPr/>
          <p:nvPr/>
        </p:nvSpPr>
        <p:spPr>
          <a:xfrm>
            <a:off x="8138160" y="1828800"/>
            <a:ext cx="3520440" cy="160020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66760" y="2084832"/>
            <a:ext cx="457200" cy="45720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3</a:t>
            </a:r>
          </a:p>
        </p:txBody>
      </p:sp>
      <p:sp>
        <p:nvSpPr>
          <p:cNvPr id="14" name="TextBox 13"/>
          <p:cNvSpPr txBox="1"/>
          <p:nvPr/>
        </p:nvSpPr>
        <p:spPr>
          <a:xfrm>
            <a:off x="8961120" y="2103120"/>
            <a:ext cx="2560320" cy="41148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앞면 고정, 깊이 축소</a:t>
            </a:r>
          </a:p>
        </p:txBody>
      </p:sp>
      <p:sp>
        <p:nvSpPr>
          <p:cNvPr id="15" name="TextBox 14"/>
          <p:cNvSpPr txBox="1"/>
          <p:nvPr/>
        </p:nvSpPr>
        <p:spPr>
          <a:xfrm>
            <a:off x="8961120" y="2560320"/>
            <a:ext cx="2606040" cy="82296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깊이 × 0.85 / 0.70 / 0.60</a:t>
            </a:r>
          </a:p>
          <a:p>
            <a:pPr algn="l"/>
            <a:r>
              <a:rPr sz="1200" b="0" i="0">
                <a:solidFill>
                  <a:srgbClr val="5F6B76"/>
                </a:solidFill>
                <a:latin typeface="맑은 고딕"/>
                <a:ea typeface="맑은 고딕"/>
                <a:cs typeface="맑은 고딕"/>
              </a:rPr>
              <a:t>중심 위치 재계산</a:t>
            </a:r>
          </a:p>
        </p:txBody>
      </p:sp>
      <p:sp>
        <p:nvSpPr>
          <p:cNvPr id="16" name="Rounded Rectangle 15"/>
          <p:cNvSpPr/>
          <p:nvPr/>
        </p:nvSpPr>
        <p:spPr>
          <a:xfrm>
            <a:off x="548640" y="3703320"/>
            <a:ext cx="3520440" cy="160020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3959352"/>
            <a:ext cx="457200" cy="45720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4</a:t>
            </a:r>
          </a:p>
        </p:txBody>
      </p:sp>
      <p:sp>
        <p:nvSpPr>
          <p:cNvPr id="18" name="TextBox 17"/>
          <p:cNvSpPr txBox="1"/>
          <p:nvPr/>
        </p:nvSpPr>
        <p:spPr>
          <a:xfrm>
            <a:off x="1371600" y="3977639"/>
            <a:ext cx="2560320" cy="41148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모델 3개 저장</a:t>
            </a:r>
          </a:p>
        </p:txBody>
      </p:sp>
      <p:sp>
        <p:nvSpPr>
          <p:cNvPr id="19" name="TextBox 18"/>
          <p:cNvSpPr txBox="1"/>
          <p:nvPr/>
        </p:nvSpPr>
        <p:spPr>
          <a:xfrm>
            <a:off x="1371600" y="4434840"/>
            <a:ext cx="2606040" cy="82296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시뮬레이터가 오류 없이</a:t>
            </a:r>
          </a:p>
          <a:p>
            <a:pPr algn="l"/>
            <a:r>
              <a:rPr sz="1200" b="0" i="0">
                <a:solidFill>
                  <a:srgbClr val="5F6B76"/>
                </a:solidFill>
                <a:latin typeface="맑은 고딕"/>
                <a:ea typeface="맑은 고딕"/>
                <a:cs typeface="맑은 고딕"/>
              </a:rPr>
              <a:t>읽는지 확인</a:t>
            </a:r>
          </a:p>
        </p:txBody>
      </p:sp>
      <p:sp>
        <p:nvSpPr>
          <p:cNvPr id="20" name="Rounded Rectangle 19"/>
          <p:cNvSpPr/>
          <p:nvPr/>
        </p:nvSpPr>
        <p:spPr>
          <a:xfrm>
            <a:off x="4343400" y="3703320"/>
            <a:ext cx="3520440" cy="160020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72000" y="3959352"/>
            <a:ext cx="457200" cy="45720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5</a:t>
            </a:r>
          </a:p>
        </p:txBody>
      </p:sp>
      <p:sp>
        <p:nvSpPr>
          <p:cNvPr id="22" name="TextBox 21"/>
          <p:cNvSpPr txBox="1"/>
          <p:nvPr/>
        </p:nvSpPr>
        <p:spPr>
          <a:xfrm>
            <a:off x="5166360" y="3977639"/>
            <a:ext cx="2560320" cy="41148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자동 검사 2가지</a:t>
            </a:r>
          </a:p>
        </p:txBody>
      </p:sp>
      <p:sp>
        <p:nvSpPr>
          <p:cNvPr id="23" name="TextBox 22"/>
          <p:cNvSpPr txBox="1"/>
          <p:nvPr/>
        </p:nvSpPr>
        <p:spPr>
          <a:xfrm>
            <a:off x="5166360" y="4434840"/>
            <a:ext cx="2606040" cy="82296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고정 22개 항목 불변?</a:t>
            </a:r>
          </a:p>
          <a:p>
            <a:pPr algn="l"/>
            <a:r>
              <a:rPr sz="1200" b="0" i="0">
                <a:solidFill>
                  <a:srgbClr val="5F6B76"/>
                </a:solidFill>
                <a:latin typeface="맑은 고딕"/>
                <a:ea typeface="맑은 고딕"/>
                <a:cs typeface="맑은 고딕"/>
              </a:rPr>
              <a:t>장애물이 원본보다 작은가?</a:t>
            </a:r>
          </a:p>
        </p:txBody>
      </p:sp>
      <p:sp>
        <p:nvSpPr>
          <p:cNvPr id="24" name="Rounded Rectangle 23"/>
          <p:cNvSpPr/>
          <p:nvPr/>
        </p:nvSpPr>
        <p:spPr>
          <a:xfrm>
            <a:off x="8138160" y="3703320"/>
            <a:ext cx="3520440" cy="160020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66760" y="3959352"/>
            <a:ext cx="457200" cy="45720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6</a:t>
            </a:r>
          </a:p>
        </p:txBody>
      </p:sp>
      <p:sp>
        <p:nvSpPr>
          <p:cNvPr id="26" name="TextBox 25"/>
          <p:cNvSpPr txBox="1"/>
          <p:nvPr/>
        </p:nvSpPr>
        <p:spPr>
          <a:xfrm>
            <a:off x="8961120" y="3977639"/>
            <a:ext cx="2560320" cy="41148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기록</a:t>
            </a:r>
          </a:p>
        </p:txBody>
      </p:sp>
      <p:sp>
        <p:nvSpPr>
          <p:cNvPr id="27" name="TextBox 26"/>
          <p:cNvSpPr txBox="1"/>
          <p:nvPr/>
        </p:nvSpPr>
        <p:spPr>
          <a:xfrm>
            <a:off x="8961120" y="4434840"/>
            <a:ext cx="2606040" cy="82296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results/…manifest_v1.json</a:t>
            </a:r>
          </a:p>
        </p:txBody>
      </p:sp>
      <p:sp>
        <p:nvSpPr>
          <p:cNvPr id="28" name="Rounded Rectangle 27"/>
          <p:cNvSpPr/>
          <p:nvPr/>
        </p:nvSpPr>
        <p:spPr>
          <a:xfrm>
            <a:off x="548640" y="5669280"/>
            <a:ext cx="11109960" cy="685800"/>
          </a:xfrm>
          <a:prstGeom prst="roundRect">
            <a:avLst>
              <a:gd name="adj" fmla="val 8000"/>
            </a:avLst>
          </a:prstGeom>
          <a:solidFill>
            <a:srgbClr val="E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669280"/>
            <a:ext cx="10698480" cy="685800"/>
          </a:xfrm>
          <a:prstGeom prst="rect">
            <a:avLst/>
          </a:prstGeom>
          <a:noFill/>
        </p:spPr>
        <p:txBody>
          <a:bodyPr wrap="square" anchor="ctr" lIns="0" rIns="0" tIns="0" bIns="0">
            <a:spAutoFit/>
          </a:bodyPr>
          <a:lstStyle/>
          <a:p>
            <a:pPr algn="l"/>
            <a:r>
              <a:rPr sz="1400" b="1" i="0">
                <a:solidFill>
                  <a:srgbClr val="1E2933"/>
                </a:solidFill>
                <a:latin typeface="맑은 고딕"/>
                <a:ea typeface="맑은 고딕"/>
                <a:cs typeface="맑은 고딕"/>
              </a:rPr>
              <a:t>새 중심 = 앞면 위치 − (원래 반깊이 × 배율)</a:t>
            </a:r>
            <a:r>
              <a:rPr sz="1200" b="0" i="0">
                <a:solidFill>
                  <a:srgbClr val="5F6B76"/>
                </a:solidFill>
                <a:latin typeface="맑은 고딕"/>
                <a:ea typeface="맑은 고딕"/>
                <a:cs typeface="맑은 고딕"/>
              </a:rPr>
              <a:t>     예: Fluent 앞면 0.900 m 고정, 뒷면 1.455 → 1.372 / 1.289 / 1.233 m</a:t>
            </a:r>
          </a:p>
        </p:txBody>
      </p:sp>
      <p:sp>
        <p:nvSpPr>
          <p:cNvPr id="30" name="TextBox 29"/>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스케일다운 결과를 읽을 때 주의할 점</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시뮬레이션 비교용 후보이며, 제작 치수가 아니다</a:t>
            </a:r>
          </a:p>
        </p:txBody>
      </p:sp>
      <p:sp>
        <p:nvSpPr>
          <p:cNvPr id="4" name="Rounded Rectangle 3"/>
          <p:cNvSpPr/>
          <p:nvPr/>
        </p:nvSpPr>
        <p:spPr>
          <a:xfrm>
            <a:off x="548640" y="1874519"/>
            <a:ext cx="3520440" cy="301752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148840"/>
            <a:ext cx="502920" cy="50292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1</a:t>
            </a:r>
          </a:p>
        </p:txBody>
      </p:sp>
      <p:sp>
        <p:nvSpPr>
          <p:cNvPr id="6" name="TextBox 5"/>
          <p:cNvSpPr txBox="1"/>
          <p:nvPr/>
        </p:nvSpPr>
        <p:spPr>
          <a:xfrm>
            <a:off x="822959" y="2834640"/>
            <a:ext cx="3017520" cy="457200"/>
          </a:xfrm>
          <a:prstGeom prst="rect">
            <a:avLst/>
          </a:prstGeom>
          <a:noFill/>
        </p:spPr>
        <p:txBody>
          <a:bodyPr wrap="square" anchor="t" lIns="0" rIns="0" tIns="0" bIns="0">
            <a:spAutoFit/>
          </a:bodyPr>
          <a:lstStyle/>
          <a:p>
            <a:pPr algn="l"/>
            <a:r>
              <a:rPr sz="1700" b="1" i="0">
                <a:solidFill>
                  <a:srgbClr val="1E2933"/>
                </a:solidFill>
                <a:latin typeface="맑은 고딕"/>
                <a:ea typeface="맑은 고딕"/>
                <a:cs typeface="맑은 고딕"/>
              </a:rPr>
              <a:t>후보 간 결과가 같다</a:t>
            </a:r>
          </a:p>
        </p:txBody>
      </p:sp>
      <p:sp>
        <p:nvSpPr>
          <p:cNvPr id="7" name="TextBox 6"/>
          <p:cNvSpPr txBox="1"/>
          <p:nvPr/>
        </p:nvSpPr>
        <p:spPr>
          <a:xfrm>
            <a:off x="822959" y="3337560"/>
            <a:ext cx="3017520" cy="146304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로봇은 앞면과 출입구만 지나간다. 이 부분을 고정했으니 최대 40% 축소까지는 로봇 동작이 달라지지 않는다.</a:t>
            </a:r>
          </a:p>
        </p:txBody>
      </p:sp>
      <p:sp>
        <p:nvSpPr>
          <p:cNvPr id="8" name="Rounded Rectangle 7"/>
          <p:cNvSpPr/>
          <p:nvPr/>
        </p:nvSpPr>
        <p:spPr>
          <a:xfrm>
            <a:off x="4343400" y="1874519"/>
            <a:ext cx="3520440" cy="301752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17720" y="2148840"/>
            <a:ext cx="502920" cy="502920"/>
          </a:xfrm>
          <a:prstGeom prst="ellipse">
            <a:avLst/>
          </a:prstGeom>
          <a:solidFill>
            <a:srgbClr val="16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2</a:t>
            </a:r>
          </a:p>
        </p:txBody>
      </p:sp>
      <p:sp>
        <p:nvSpPr>
          <p:cNvPr id="10" name="TextBox 9"/>
          <p:cNvSpPr txBox="1"/>
          <p:nvPr/>
        </p:nvSpPr>
        <p:spPr>
          <a:xfrm>
            <a:off x="4617720" y="2834640"/>
            <a:ext cx="3017520" cy="457200"/>
          </a:xfrm>
          <a:prstGeom prst="rect">
            <a:avLst/>
          </a:prstGeom>
          <a:noFill/>
        </p:spPr>
        <p:txBody>
          <a:bodyPr wrap="square" anchor="t" lIns="0" rIns="0" tIns="0" bIns="0">
            <a:spAutoFit/>
          </a:bodyPr>
          <a:lstStyle/>
          <a:p>
            <a:pPr algn="l"/>
            <a:r>
              <a:rPr sz="1700" b="1" i="0">
                <a:solidFill>
                  <a:srgbClr val="1E2933"/>
                </a:solidFill>
                <a:latin typeface="맑은 고딕"/>
                <a:ea typeface="맑은 고딕"/>
                <a:cs typeface="맑은 고딕"/>
              </a:rPr>
              <a:t>비율의 근거가 없다</a:t>
            </a:r>
          </a:p>
        </p:txBody>
      </p:sp>
      <p:sp>
        <p:nvSpPr>
          <p:cNvPr id="11" name="TextBox 10"/>
          <p:cNvSpPr txBox="1"/>
          <p:nvPr/>
        </p:nvSpPr>
        <p:spPr>
          <a:xfrm>
            <a:off x="4617720" y="3337560"/>
            <a:ext cx="3017520" cy="146304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15·30·40%는 내부 부품 크기에서 나온 값이 아니라 비교를 위해 정한 선별 비율이다.</a:t>
            </a:r>
          </a:p>
        </p:txBody>
      </p:sp>
      <p:sp>
        <p:nvSpPr>
          <p:cNvPr id="12" name="Rounded Rectangle 11"/>
          <p:cNvSpPr/>
          <p:nvPr/>
        </p:nvSpPr>
        <p:spPr>
          <a:xfrm>
            <a:off x="8138160" y="1874519"/>
            <a:ext cx="3520440" cy="301752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2480" y="2148840"/>
            <a:ext cx="502920" cy="502920"/>
          </a:xfrm>
          <a:prstGeom prst="ellipse">
            <a:avLst/>
          </a:prstGeom>
          <a:solidFill>
            <a:srgbClr val="D95D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a:t>
            </a:r>
          </a:p>
        </p:txBody>
      </p:sp>
      <p:sp>
        <p:nvSpPr>
          <p:cNvPr id="14" name="TextBox 13"/>
          <p:cNvSpPr txBox="1"/>
          <p:nvPr/>
        </p:nvSpPr>
        <p:spPr>
          <a:xfrm>
            <a:off x="8412480" y="2834640"/>
            <a:ext cx="3017520" cy="457200"/>
          </a:xfrm>
          <a:prstGeom prst="rect">
            <a:avLst/>
          </a:prstGeom>
          <a:noFill/>
        </p:spPr>
        <p:txBody>
          <a:bodyPr wrap="square" anchor="t" lIns="0" rIns="0" tIns="0" bIns="0">
            <a:spAutoFit/>
          </a:bodyPr>
          <a:lstStyle/>
          <a:p>
            <a:pPr algn="l"/>
            <a:r>
              <a:rPr sz="1700" b="1" i="0">
                <a:solidFill>
                  <a:srgbClr val="1E2933"/>
                </a:solidFill>
                <a:latin typeface="맑은 고딕"/>
                <a:ea typeface="맑은 고딕"/>
                <a:cs typeface="맑은 고딕"/>
              </a:rPr>
              <a:t>빠진 정보가 많다</a:t>
            </a:r>
          </a:p>
        </p:txBody>
      </p:sp>
      <p:sp>
        <p:nvSpPr>
          <p:cNvPr id="15" name="TextBox 14"/>
          <p:cNvSpPr txBox="1"/>
          <p:nvPr/>
        </p:nvSpPr>
        <p:spPr>
          <a:xfrm>
            <a:off x="8412480" y="3337560"/>
            <a:ext cx="3017520" cy="146304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내부 기구, 도어 개폐 공간, 센서·케이블, 제작 공차, 5 mL tube CAD가 모델에 없다.</a:t>
            </a:r>
          </a:p>
        </p:txBody>
      </p:sp>
      <p:sp>
        <p:nvSpPr>
          <p:cNvPr id="16" name="TextBox 15"/>
          <p:cNvSpPr txBox="1"/>
          <p:nvPr/>
        </p:nvSpPr>
        <p:spPr>
          <a:xfrm>
            <a:off x="548640" y="5212080"/>
            <a:ext cx="11064240" cy="822960"/>
          </a:xfrm>
          <a:prstGeom prst="rect">
            <a:avLst/>
          </a:prstGeom>
          <a:noFill/>
        </p:spPr>
        <p:txBody>
          <a:bodyPr wrap="square" anchor="t" lIns="0" rIns="0" tIns="0" bIns="0">
            <a:spAutoFit/>
          </a:bodyPr>
          <a:lstStyle/>
          <a:p>
            <a:pPr algn="l"/>
            <a:r>
              <a:rPr sz="1500" b="1" i="0">
                <a:solidFill>
                  <a:srgbClr val="1E2933"/>
                </a:solidFill>
                <a:latin typeface="맑은 고딕"/>
                <a:ea typeface="맑은 고딕"/>
                <a:cs typeface="맑은 고딕"/>
              </a:rPr>
              <a:t>현재 제안: </a:t>
            </a:r>
            <a:r>
              <a:rPr sz="1500" b="0" i="0">
                <a:solidFill>
                  <a:srgbClr val="1E2933"/>
                </a:solidFill>
                <a:latin typeface="맑은 고딕"/>
                <a:ea typeface="맑은 고딕"/>
                <a:cs typeface="맑은 고딕"/>
              </a:rPr>
              <a:t>시뮬레이션상 최적은 C3(40%), 후속 검토 기준안은 C2(30%). 축소 한계를 찾으려면 50~70%까지 늘려 시험해야 한다.</a:t>
            </a:r>
          </a:p>
        </p:txBody>
      </p:sp>
      <p:sp>
        <p:nvSpPr>
          <p:cNvPr id="17" name="TextBox 16"/>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323F"/>
        </a:solidFill>
        <a:effectLst/>
      </p:bgPr>
    </p:bg>
    <p:spTree>
      <p:nvGrpSpPr>
        <p:cNvPr id="1" name=""/>
        <p:cNvGrpSpPr/>
        <p:nvPr/>
      </p:nvGrpSpPr>
      <p:grpSpPr/>
      <p:sp>
        <p:nvSpPr>
          <p:cNvPr id="2" name="Oval 1"/>
          <p:cNvSpPr/>
          <p:nvPr/>
        </p:nvSpPr>
        <p:spPr>
          <a:xfrm>
            <a:off x="731520" y="2377440"/>
            <a:ext cx="822960" cy="82296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400" b="1" i="0">
                <a:solidFill>
                  <a:srgbClr val="FFFFFF"/>
                </a:solidFill>
                <a:latin typeface="맑은 고딕"/>
                <a:ea typeface="맑은 고딕"/>
                <a:cs typeface="맑은 고딕"/>
              </a:rPr>
              <a:t>2</a:t>
            </a:r>
          </a:p>
        </p:txBody>
      </p:sp>
      <p:sp>
        <p:nvSpPr>
          <p:cNvPr id="3" name="TextBox 2"/>
          <p:cNvSpPr txBox="1"/>
          <p:nvPr/>
        </p:nvSpPr>
        <p:spPr>
          <a:xfrm>
            <a:off x="1828800" y="2331720"/>
            <a:ext cx="9144000" cy="914400"/>
          </a:xfrm>
          <a:prstGeom prst="rect">
            <a:avLst/>
          </a:prstGeom>
          <a:noFill/>
        </p:spPr>
        <p:txBody>
          <a:bodyPr wrap="square" anchor="t" lIns="0" rIns="0" tIns="0" bIns="0">
            <a:spAutoFit/>
          </a:bodyPr>
          <a:lstStyle/>
          <a:p>
            <a:pPr algn="l"/>
            <a:r>
              <a:rPr sz="4000" b="1" i="0">
                <a:solidFill>
                  <a:srgbClr val="FFFFFF"/>
                </a:solidFill>
                <a:latin typeface="맑은 고딕"/>
                <a:ea typeface="맑은 고딕"/>
                <a:cs typeface="맑은 고딕"/>
              </a:rPr>
              <a:t>Rule-based 제어</a:t>
            </a:r>
          </a:p>
        </p:txBody>
      </p:sp>
      <p:sp>
        <p:nvSpPr>
          <p:cNvPr id="4" name="TextBox 3"/>
          <p:cNvSpPr txBox="1"/>
          <p:nvPr/>
        </p:nvSpPr>
        <p:spPr>
          <a:xfrm>
            <a:off x="1828800" y="3246120"/>
            <a:ext cx="9144000" cy="731520"/>
          </a:xfrm>
          <a:prstGeom prst="rect">
            <a:avLst/>
          </a:prstGeom>
          <a:noFill/>
        </p:spPr>
        <p:txBody>
          <a:bodyPr wrap="square" anchor="t" lIns="0" rIns="0" tIns="0" bIns="0">
            <a:spAutoFit/>
          </a:bodyPr>
          <a:lstStyle/>
          <a:p>
            <a:pPr algn="l"/>
            <a:r>
              <a:rPr sz="1800" b="0" i="0">
                <a:solidFill>
                  <a:srgbClr val="C9DDE2"/>
                </a:solidFill>
                <a:latin typeface="맑은 고딕"/>
                <a:ea typeface="맑은 고딕"/>
                <a:cs typeface="맑은 고딕"/>
              </a:rPr>
              <a:t>정해진 경유지를 따라가는 자동 운전 + 매 순간 지켜보는 감독관</a:t>
            </a:r>
          </a:p>
        </p:txBody>
      </p:sp>
      <p:sp>
        <p:nvSpPr>
          <p:cNvPr id="5" name="TextBox 4"/>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9FB4BC"/>
                </a:solidFill>
                <a:latin typeface="맑은 고딕"/>
                <a:ea typeface="맑은 고딕"/>
                <a:cs typeface="맑은 고딕"/>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동작을 '경유지(Phase)' 목록으로 쪼갠다</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내비게이션 경유지처럼, 경유지마다 레일 위치·팔 자세·그리퍼·이벤트를 적는다</a:t>
            </a:r>
          </a:p>
        </p:txBody>
      </p:sp>
      <p:sp>
        <p:nvSpPr>
          <p:cNvPr id="4" name="Rectangle 3"/>
          <p:cNvSpPr/>
          <p:nvPr/>
        </p:nvSpPr>
        <p:spPr>
          <a:xfrm>
            <a:off x="548640" y="1828800"/>
            <a:ext cx="11109960" cy="914400"/>
          </a:xfrm>
          <a:prstGeom prst="rect">
            <a:avLst/>
          </a:prstGeom>
          <a:solidFill>
            <a:srgbClr val="16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r>
              <a:rPr sz="1700" b="0" i="0">
                <a:solidFill>
                  <a:srgbClr val="C9DDE2"/>
                </a:solidFill>
                <a:latin typeface="맑은 고딕"/>
                <a:ea typeface="맑은 고딕"/>
                <a:cs typeface="맑은 고딕"/>
              </a:rPr>
              <a:t>Phase(</a:t>
            </a:r>
            <a:r>
              <a:rPr sz="1700" b="0" i="0">
                <a:solidFill>
                  <a:srgbClr val="F2C18D"/>
                </a:solidFill>
                <a:latin typeface="맑은 고딕"/>
                <a:ea typeface="맑은 고딕"/>
                <a:cs typeface="맑은 고딕"/>
              </a:rPr>
              <a:t>"GRASP_AT_HOTEL"</a:t>
            </a:r>
            <a:r>
              <a:rPr sz="1700" b="0" i="0">
                <a:solidFill>
                  <a:srgbClr val="FFFFFF"/>
                </a:solidFill>
                <a:latin typeface="맑은 고딕"/>
                <a:ea typeface="맑은 고딕"/>
                <a:cs typeface="맑은 고딕"/>
              </a:rPr>
              <a:t>, HOTEL_RAIL, HOTEL_WORK_Q, JAW_CLOSED, </a:t>
            </a:r>
            <a:r>
              <a:rPr sz="1700" b="0" i="0">
                <a:solidFill>
                  <a:srgbClr val="F2C18D"/>
                </a:solidFill>
                <a:latin typeface="맑은 고딕"/>
                <a:ea typeface="맑은 고딕"/>
                <a:cs typeface="맑은 고딕"/>
              </a:rPr>
              <a:t>"carried"</a:t>
            </a:r>
            <a:r>
              <a:rPr sz="1700" b="0" i="0">
                <a:solidFill>
                  <a:srgbClr val="C9DDE2"/>
                </a:solidFill>
                <a:latin typeface="맑은 고딕"/>
                <a:ea typeface="맑은 고딕"/>
                <a:cs typeface="맑은 고딕"/>
              </a:rPr>
              <a:t>)</a:t>
            </a:r>
          </a:p>
        </p:txBody>
      </p:sp>
      <p:sp>
        <p:nvSpPr>
          <p:cNvPr id="5" name="Rounded Rectangle 4"/>
          <p:cNvSpPr/>
          <p:nvPr/>
        </p:nvSpPr>
        <p:spPr>
          <a:xfrm>
            <a:off x="548640" y="3017520"/>
            <a:ext cx="2057400" cy="146304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154680"/>
            <a:ext cx="1737360" cy="365760"/>
          </a:xfrm>
          <a:prstGeom prst="rect">
            <a:avLst/>
          </a:prstGeom>
          <a:noFill/>
        </p:spPr>
        <p:txBody>
          <a:bodyPr wrap="square" anchor="t" lIns="0" rIns="0" tIns="0" bIns="0">
            <a:spAutoFit/>
          </a:bodyPr>
          <a:lstStyle/>
          <a:p>
            <a:pPr algn="l"/>
            <a:r>
              <a:rPr sz="1500" b="1" i="0">
                <a:solidFill>
                  <a:srgbClr val="1F8A7E"/>
                </a:solidFill>
                <a:latin typeface="맑은 고딕"/>
                <a:ea typeface="맑은 고딕"/>
                <a:cs typeface="맑은 고딕"/>
              </a:rPr>
              <a:t>이름</a:t>
            </a:r>
          </a:p>
        </p:txBody>
      </p:sp>
      <p:sp>
        <p:nvSpPr>
          <p:cNvPr id="7" name="TextBox 6"/>
          <p:cNvSpPr txBox="1"/>
          <p:nvPr/>
        </p:nvSpPr>
        <p:spPr>
          <a:xfrm>
            <a:off x="731520" y="3566160"/>
            <a:ext cx="1737360" cy="365760"/>
          </a:xfrm>
          <a:prstGeom prst="rect">
            <a:avLst/>
          </a:prstGeom>
          <a:noFill/>
        </p:spPr>
        <p:txBody>
          <a:bodyPr wrap="square" anchor="t" lIns="0" rIns="0" tIns="0" bIns="0">
            <a:spAutoFit/>
          </a:bodyPr>
          <a:lstStyle/>
          <a:p>
            <a:pPr algn="l"/>
            <a:r>
              <a:rPr sz="1100" b="0" i="0">
                <a:solidFill>
                  <a:srgbClr val="5F6B76"/>
                </a:solidFill>
                <a:latin typeface="맑은 고딕"/>
                <a:ea typeface="맑은 고딕"/>
                <a:cs typeface="맑은 고딕"/>
              </a:rPr>
              <a:t>GRASP_AT_HOTEL</a:t>
            </a:r>
          </a:p>
        </p:txBody>
      </p:sp>
      <p:sp>
        <p:nvSpPr>
          <p:cNvPr id="8" name="TextBox 7"/>
          <p:cNvSpPr txBox="1"/>
          <p:nvPr/>
        </p:nvSpPr>
        <p:spPr>
          <a:xfrm>
            <a:off x="731520" y="3931920"/>
            <a:ext cx="1737360" cy="502920"/>
          </a:xfrm>
          <a:prstGeom prst="rect">
            <a:avLst/>
          </a:prstGeom>
          <a:noFill/>
        </p:spPr>
        <p:txBody>
          <a:bodyPr wrap="square" anchor="t" lIns="0" rIns="0" tIns="0" bIns="0">
            <a:spAutoFit/>
          </a:bodyPr>
          <a:lstStyle/>
          <a:p>
            <a:pPr algn="l"/>
            <a:r>
              <a:rPr sz="1300" b="0" i="0">
                <a:solidFill>
                  <a:srgbClr val="1E2933"/>
                </a:solidFill>
                <a:latin typeface="맑은 고딕"/>
                <a:ea typeface="맑은 고딕"/>
                <a:cs typeface="맑은 고딕"/>
              </a:rPr>
              <a:t>Hotel에서 집기</a:t>
            </a:r>
          </a:p>
        </p:txBody>
      </p:sp>
      <p:sp>
        <p:nvSpPr>
          <p:cNvPr id="9" name="Rounded Rectangle 8"/>
          <p:cNvSpPr/>
          <p:nvPr/>
        </p:nvSpPr>
        <p:spPr>
          <a:xfrm>
            <a:off x="2788920" y="3017520"/>
            <a:ext cx="2057400" cy="146304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3154680"/>
            <a:ext cx="1737360" cy="365760"/>
          </a:xfrm>
          <a:prstGeom prst="rect">
            <a:avLst/>
          </a:prstGeom>
          <a:noFill/>
        </p:spPr>
        <p:txBody>
          <a:bodyPr wrap="square" anchor="t" lIns="0" rIns="0" tIns="0" bIns="0">
            <a:spAutoFit/>
          </a:bodyPr>
          <a:lstStyle/>
          <a:p>
            <a:pPr algn="l"/>
            <a:r>
              <a:rPr sz="1500" b="1" i="0">
                <a:solidFill>
                  <a:srgbClr val="1F8A7E"/>
                </a:solidFill>
                <a:latin typeface="맑은 고딕"/>
                <a:ea typeface="맑은 고딕"/>
                <a:cs typeface="맑은 고딕"/>
              </a:rPr>
              <a:t>레일 위치</a:t>
            </a:r>
          </a:p>
        </p:txBody>
      </p:sp>
      <p:sp>
        <p:nvSpPr>
          <p:cNvPr id="11" name="TextBox 10"/>
          <p:cNvSpPr txBox="1"/>
          <p:nvPr/>
        </p:nvSpPr>
        <p:spPr>
          <a:xfrm>
            <a:off x="2971800" y="3566160"/>
            <a:ext cx="1737360" cy="365760"/>
          </a:xfrm>
          <a:prstGeom prst="rect">
            <a:avLst/>
          </a:prstGeom>
          <a:noFill/>
        </p:spPr>
        <p:txBody>
          <a:bodyPr wrap="square" anchor="t" lIns="0" rIns="0" tIns="0" bIns="0">
            <a:spAutoFit/>
          </a:bodyPr>
          <a:lstStyle/>
          <a:p>
            <a:pPr algn="l"/>
            <a:r>
              <a:rPr sz="1100" b="0" i="0">
                <a:solidFill>
                  <a:srgbClr val="5F6B76"/>
                </a:solidFill>
                <a:latin typeface="맑은 고딕"/>
                <a:ea typeface="맑은 고딕"/>
                <a:cs typeface="맑은 고딕"/>
              </a:rPr>
              <a:t>HOTEL_RAIL</a:t>
            </a:r>
          </a:p>
        </p:txBody>
      </p:sp>
      <p:sp>
        <p:nvSpPr>
          <p:cNvPr id="12" name="TextBox 11"/>
          <p:cNvSpPr txBox="1"/>
          <p:nvPr/>
        </p:nvSpPr>
        <p:spPr>
          <a:xfrm>
            <a:off x="2971800" y="3931920"/>
            <a:ext cx="1737360" cy="502920"/>
          </a:xfrm>
          <a:prstGeom prst="rect">
            <a:avLst/>
          </a:prstGeom>
          <a:noFill/>
        </p:spPr>
        <p:txBody>
          <a:bodyPr wrap="square" anchor="t" lIns="0" rIns="0" tIns="0" bIns="0">
            <a:spAutoFit/>
          </a:bodyPr>
          <a:lstStyle/>
          <a:p>
            <a:pPr algn="l"/>
            <a:r>
              <a:rPr sz="1300" b="0" i="0">
                <a:solidFill>
                  <a:srgbClr val="1E2933"/>
                </a:solidFill>
                <a:latin typeface="맑은 고딕"/>
                <a:ea typeface="맑은 고딕"/>
                <a:cs typeface="맑은 고딕"/>
              </a:rPr>
              <a:t>레일 −1.254 m 지점</a:t>
            </a:r>
          </a:p>
        </p:txBody>
      </p:sp>
      <p:sp>
        <p:nvSpPr>
          <p:cNvPr id="13" name="Rounded Rectangle 12"/>
          <p:cNvSpPr/>
          <p:nvPr/>
        </p:nvSpPr>
        <p:spPr>
          <a:xfrm>
            <a:off x="5029200" y="3017520"/>
            <a:ext cx="2057400" cy="146304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154680"/>
            <a:ext cx="1737360" cy="365760"/>
          </a:xfrm>
          <a:prstGeom prst="rect">
            <a:avLst/>
          </a:prstGeom>
          <a:noFill/>
        </p:spPr>
        <p:txBody>
          <a:bodyPr wrap="square" anchor="t" lIns="0" rIns="0" tIns="0" bIns="0">
            <a:spAutoFit/>
          </a:bodyPr>
          <a:lstStyle/>
          <a:p>
            <a:pPr algn="l"/>
            <a:r>
              <a:rPr sz="1500" b="1" i="0">
                <a:solidFill>
                  <a:srgbClr val="1F8A7E"/>
                </a:solidFill>
                <a:latin typeface="맑은 고딕"/>
                <a:ea typeface="맑은 고딕"/>
                <a:cs typeface="맑은 고딕"/>
              </a:rPr>
              <a:t>팔 관절 6개</a:t>
            </a:r>
          </a:p>
        </p:txBody>
      </p:sp>
      <p:sp>
        <p:nvSpPr>
          <p:cNvPr id="15" name="TextBox 14"/>
          <p:cNvSpPr txBox="1"/>
          <p:nvPr/>
        </p:nvSpPr>
        <p:spPr>
          <a:xfrm>
            <a:off x="5212080" y="3566160"/>
            <a:ext cx="1737360" cy="365760"/>
          </a:xfrm>
          <a:prstGeom prst="rect">
            <a:avLst/>
          </a:prstGeom>
          <a:noFill/>
        </p:spPr>
        <p:txBody>
          <a:bodyPr wrap="square" anchor="t" lIns="0" rIns="0" tIns="0" bIns="0">
            <a:spAutoFit/>
          </a:bodyPr>
          <a:lstStyle/>
          <a:p>
            <a:pPr algn="l"/>
            <a:r>
              <a:rPr sz="1100" b="0" i="0">
                <a:solidFill>
                  <a:srgbClr val="5F6B76"/>
                </a:solidFill>
                <a:latin typeface="맑은 고딕"/>
                <a:ea typeface="맑은 고딕"/>
                <a:cs typeface="맑은 고딕"/>
              </a:rPr>
              <a:t>HOTEL_WORK_Q</a:t>
            </a:r>
          </a:p>
        </p:txBody>
      </p:sp>
      <p:sp>
        <p:nvSpPr>
          <p:cNvPr id="16" name="TextBox 15"/>
          <p:cNvSpPr txBox="1"/>
          <p:nvPr/>
        </p:nvSpPr>
        <p:spPr>
          <a:xfrm>
            <a:off x="5212080" y="3931920"/>
            <a:ext cx="1737360" cy="502920"/>
          </a:xfrm>
          <a:prstGeom prst="rect">
            <a:avLst/>
          </a:prstGeom>
          <a:noFill/>
        </p:spPr>
        <p:txBody>
          <a:bodyPr wrap="square" anchor="t" lIns="0" rIns="0" tIns="0" bIns="0">
            <a:spAutoFit/>
          </a:bodyPr>
          <a:lstStyle/>
          <a:p>
            <a:pPr algn="l"/>
            <a:r>
              <a:rPr sz="1300" b="0" i="0">
                <a:solidFill>
                  <a:srgbClr val="1E2933"/>
                </a:solidFill>
                <a:latin typeface="맑은 고딕"/>
                <a:ea typeface="맑은 고딕"/>
                <a:cs typeface="맑은 고딕"/>
              </a:rPr>
              <a:t>IK로 미리 계산한 각도</a:t>
            </a:r>
          </a:p>
        </p:txBody>
      </p:sp>
      <p:sp>
        <p:nvSpPr>
          <p:cNvPr id="17" name="Rounded Rectangle 16"/>
          <p:cNvSpPr/>
          <p:nvPr/>
        </p:nvSpPr>
        <p:spPr>
          <a:xfrm>
            <a:off x="7269480" y="3017520"/>
            <a:ext cx="2057400" cy="146304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154680"/>
            <a:ext cx="1737360" cy="365760"/>
          </a:xfrm>
          <a:prstGeom prst="rect">
            <a:avLst/>
          </a:prstGeom>
          <a:noFill/>
        </p:spPr>
        <p:txBody>
          <a:bodyPr wrap="square" anchor="t" lIns="0" rIns="0" tIns="0" bIns="0">
            <a:spAutoFit/>
          </a:bodyPr>
          <a:lstStyle/>
          <a:p>
            <a:pPr algn="l"/>
            <a:r>
              <a:rPr sz="1500" b="1" i="0">
                <a:solidFill>
                  <a:srgbClr val="1F8A7E"/>
                </a:solidFill>
                <a:latin typeface="맑은 고딕"/>
                <a:ea typeface="맑은 고딕"/>
                <a:cs typeface="맑은 고딕"/>
              </a:rPr>
              <a:t>그리퍼</a:t>
            </a:r>
          </a:p>
        </p:txBody>
      </p:sp>
      <p:sp>
        <p:nvSpPr>
          <p:cNvPr id="19" name="TextBox 18"/>
          <p:cNvSpPr txBox="1"/>
          <p:nvPr/>
        </p:nvSpPr>
        <p:spPr>
          <a:xfrm>
            <a:off x="7452360" y="3566160"/>
            <a:ext cx="1737360" cy="365760"/>
          </a:xfrm>
          <a:prstGeom prst="rect">
            <a:avLst/>
          </a:prstGeom>
          <a:noFill/>
        </p:spPr>
        <p:txBody>
          <a:bodyPr wrap="square" anchor="t" lIns="0" rIns="0" tIns="0" bIns="0">
            <a:spAutoFit/>
          </a:bodyPr>
          <a:lstStyle/>
          <a:p>
            <a:pPr algn="l"/>
            <a:r>
              <a:rPr sz="1100" b="0" i="0">
                <a:solidFill>
                  <a:srgbClr val="5F6B76"/>
                </a:solidFill>
                <a:latin typeface="맑은 고딕"/>
                <a:ea typeface="맑은 고딕"/>
                <a:cs typeface="맑은 고딕"/>
              </a:rPr>
              <a:t>JAW_CLOSED</a:t>
            </a:r>
          </a:p>
        </p:txBody>
      </p:sp>
      <p:sp>
        <p:nvSpPr>
          <p:cNvPr id="20" name="TextBox 19"/>
          <p:cNvSpPr txBox="1"/>
          <p:nvPr/>
        </p:nvSpPr>
        <p:spPr>
          <a:xfrm>
            <a:off x="7452360" y="3931920"/>
            <a:ext cx="1737360" cy="502920"/>
          </a:xfrm>
          <a:prstGeom prst="rect">
            <a:avLst/>
          </a:prstGeom>
          <a:noFill/>
        </p:spPr>
        <p:txBody>
          <a:bodyPr wrap="square" anchor="t" lIns="0" rIns="0" tIns="0" bIns="0">
            <a:spAutoFit/>
          </a:bodyPr>
          <a:lstStyle/>
          <a:p>
            <a:pPr algn="l"/>
            <a:r>
              <a:rPr sz="1300" b="0" i="0">
                <a:solidFill>
                  <a:srgbClr val="1E2933"/>
                </a:solidFill>
                <a:latin typeface="맑은 고딕"/>
                <a:ea typeface="맑은 고딕"/>
                <a:cs typeface="맑은 고딕"/>
              </a:rPr>
              <a:t>닫기 (plate 폭 128 mm)</a:t>
            </a:r>
          </a:p>
        </p:txBody>
      </p:sp>
      <p:sp>
        <p:nvSpPr>
          <p:cNvPr id="21" name="Rounded Rectangle 20"/>
          <p:cNvSpPr/>
          <p:nvPr/>
        </p:nvSpPr>
        <p:spPr>
          <a:xfrm>
            <a:off x="9509760" y="3017520"/>
            <a:ext cx="2057400" cy="146304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0" y="3154680"/>
            <a:ext cx="1737360" cy="365760"/>
          </a:xfrm>
          <a:prstGeom prst="rect">
            <a:avLst/>
          </a:prstGeom>
          <a:noFill/>
        </p:spPr>
        <p:txBody>
          <a:bodyPr wrap="square" anchor="t" lIns="0" rIns="0" tIns="0" bIns="0">
            <a:spAutoFit/>
          </a:bodyPr>
          <a:lstStyle/>
          <a:p>
            <a:pPr algn="l"/>
            <a:r>
              <a:rPr sz="1500" b="1" i="0">
                <a:solidFill>
                  <a:srgbClr val="1F8A7E"/>
                </a:solidFill>
                <a:latin typeface="맑은 고딕"/>
                <a:ea typeface="맑은 고딕"/>
                <a:cs typeface="맑은 고딕"/>
              </a:rPr>
              <a:t>이벤트</a:t>
            </a:r>
          </a:p>
        </p:txBody>
      </p:sp>
      <p:sp>
        <p:nvSpPr>
          <p:cNvPr id="23" name="TextBox 22"/>
          <p:cNvSpPr txBox="1"/>
          <p:nvPr/>
        </p:nvSpPr>
        <p:spPr>
          <a:xfrm>
            <a:off x="9692640" y="3566160"/>
            <a:ext cx="1737360" cy="365760"/>
          </a:xfrm>
          <a:prstGeom prst="rect">
            <a:avLst/>
          </a:prstGeom>
          <a:noFill/>
        </p:spPr>
        <p:txBody>
          <a:bodyPr wrap="square" anchor="t" lIns="0" rIns="0" tIns="0" bIns="0">
            <a:spAutoFit/>
          </a:bodyPr>
          <a:lstStyle/>
          <a:p>
            <a:pPr algn="l"/>
            <a:r>
              <a:rPr sz="1100" b="0" i="0">
                <a:solidFill>
                  <a:srgbClr val="5F6B76"/>
                </a:solidFill>
                <a:latin typeface="맑은 고딕"/>
                <a:ea typeface="맑은 고딕"/>
                <a:cs typeface="맑은 고딕"/>
              </a:rPr>
              <a:t>"carried"</a:t>
            </a:r>
          </a:p>
        </p:txBody>
      </p:sp>
      <p:sp>
        <p:nvSpPr>
          <p:cNvPr id="24" name="TextBox 23"/>
          <p:cNvSpPr txBox="1"/>
          <p:nvPr/>
        </p:nvSpPr>
        <p:spPr>
          <a:xfrm>
            <a:off x="9692640" y="3931920"/>
            <a:ext cx="1737360" cy="502920"/>
          </a:xfrm>
          <a:prstGeom prst="rect">
            <a:avLst/>
          </a:prstGeom>
          <a:noFill/>
        </p:spPr>
        <p:txBody>
          <a:bodyPr wrap="square" anchor="t" lIns="0" rIns="0" tIns="0" bIns="0">
            <a:spAutoFit/>
          </a:bodyPr>
          <a:lstStyle/>
          <a:p>
            <a:pPr algn="l"/>
            <a:r>
              <a:rPr sz="1300" b="0" i="0">
                <a:solidFill>
                  <a:srgbClr val="1E2933"/>
                </a:solidFill>
                <a:latin typeface="맑은 고딕"/>
                <a:ea typeface="맑은 고딕"/>
                <a:cs typeface="맑은 고딕"/>
              </a:rPr>
              <a:t>끝나면 '들고 있음'</a:t>
            </a:r>
          </a:p>
        </p:txBody>
      </p:sp>
      <p:sp>
        <p:nvSpPr>
          <p:cNvPr id="25" name="TextBox 24"/>
          <p:cNvSpPr txBox="1"/>
          <p:nvPr/>
        </p:nvSpPr>
        <p:spPr>
          <a:xfrm>
            <a:off x="548640" y="4754880"/>
            <a:ext cx="11064240" cy="365760"/>
          </a:xfrm>
          <a:prstGeom prst="rect">
            <a:avLst/>
          </a:prstGeom>
          <a:noFill/>
        </p:spPr>
        <p:txBody>
          <a:bodyPr wrap="square" anchor="t" lIns="0" rIns="0" tIns="0" bIns="0">
            <a:spAutoFit/>
          </a:bodyPr>
          <a:lstStyle/>
          <a:p>
            <a:pPr algn="l"/>
            <a:r>
              <a:rPr sz="1400" b="1" i="0">
                <a:solidFill>
                  <a:srgbClr val="5F6B76"/>
                </a:solidFill>
                <a:latin typeface="맑은 고딕"/>
                <a:ea typeface="맑은 고딕"/>
                <a:cs typeface="맑은 고딕"/>
              </a:rPr>
              <a:t>Hotel → Fluent 구간(34단계)의 흐름</a:t>
            </a:r>
          </a:p>
        </p:txBody>
      </p:sp>
      <p:sp>
        <p:nvSpPr>
          <p:cNvPr id="26" name="Rounded Rectangle 25"/>
          <p:cNvSpPr/>
          <p:nvPr/>
        </p:nvSpPr>
        <p:spPr>
          <a:xfrm>
            <a:off x="548640" y="5166360"/>
            <a:ext cx="777240" cy="54864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0" i="0">
                <a:solidFill>
                  <a:srgbClr val="1E2933"/>
                </a:solidFill>
                <a:latin typeface="맑은 고딕"/>
                <a:ea typeface="맑은 고딕"/>
                <a:cs typeface="맑은 고딕"/>
              </a:rPr>
              <a:t>다가가기</a:t>
            </a:r>
          </a:p>
        </p:txBody>
      </p:sp>
      <p:cxnSp>
        <p:nvCxnSpPr>
          <p:cNvPr id="27" name="Connector 26"/>
          <p:cNvCxnSpPr/>
          <p:nvPr/>
        </p:nvCxnSpPr>
        <p:spPr>
          <a:xfrm>
            <a:off x="1325880" y="5440680"/>
            <a:ext cx="109727" cy="0"/>
          </a:xfrm>
          <a:prstGeom prst="line">
            <a:avLst/>
          </a:prstGeom>
          <a:ln w="1587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435607" y="5166360"/>
            <a:ext cx="777240" cy="54864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0" i="0">
                <a:solidFill>
                  <a:srgbClr val="1E2933"/>
                </a:solidFill>
                <a:latin typeface="맑은 고딕"/>
                <a:ea typeface="맑은 고딕"/>
                <a:cs typeface="맑은 고딕"/>
              </a:rPr>
              <a:t>넣기</a:t>
            </a:r>
          </a:p>
        </p:txBody>
      </p:sp>
      <p:cxnSp>
        <p:nvCxnSpPr>
          <p:cNvPr id="29" name="Connector 28"/>
          <p:cNvCxnSpPr/>
          <p:nvPr/>
        </p:nvCxnSpPr>
        <p:spPr>
          <a:xfrm>
            <a:off x="2212848" y="5440680"/>
            <a:ext cx="109728" cy="0"/>
          </a:xfrm>
          <a:prstGeom prst="line">
            <a:avLst/>
          </a:prstGeom>
          <a:ln w="1587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322576" y="5166360"/>
            <a:ext cx="777240" cy="548640"/>
          </a:xfrm>
          <a:prstGeom prst="roundRect">
            <a:avLst>
              <a:gd name="adj" fmla="val 8000"/>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맑은 고딕"/>
                <a:ea typeface="맑은 고딕"/>
                <a:cs typeface="맑은 고딕"/>
              </a:rPr>
              <a:t>집기</a:t>
            </a:r>
          </a:p>
        </p:txBody>
      </p:sp>
      <p:cxnSp>
        <p:nvCxnSpPr>
          <p:cNvPr id="31" name="Connector 30"/>
          <p:cNvCxnSpPr/>
          <p:nvPr/>
        </p:nvCxnSpPr>
        <p:spPr>
          <a:xfrm>
            <a:off x="3099816" y="5440680"/>
            <a:ext cx="109728" cy="0"/>
          </a:xfrm>
          <a:prstGeom prst="line">
            <a:avLst/>
          </a:prstGeom>
          <a:ln w="1587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3209544" y="5166360"/>
            <a:ext cx="777240" cy="54864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0" i="0">
                <a:solidFill>
                  <a:srgbClr val="1E2933"/>
                </a:solidFill>
                <a:latin typeface="맑은 고딕"/>
                <a:ea typeface="맑은 고딕"/>
                <a:cs typeface="맑은 고딕"/>
              </a:rPr>
              <a:t>빼기</a:t>
            </a:r>
          </a:p>
        </p:txBody>
      </p:sp>
      <p:cxnSp>
        <p:nvCxnSpPr>
          <p:cNvPr id="33" name="Connector 32"/>
          <p:cNvCxnSpPr/>
          <p:nvPr/>
        </p:nvCxnSpPr>
        <p:spPr>
          <a:xfrm>
            <a:off x="3986783" y="5440680"/>
            <a:ext cx="109728" cy="0"/>
          </a:xfrm>
          <a:prstGeom prst="line">
            <a:avLst/>
          </a:prstGeom>
          <a:ln w="1587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096511" y="5166360"/>
            <a:ext cx="1188720" cy="54864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0" i="0">
                <a:solidFill>
                  <a:srgbClr val="1E2933"/>
                </a:solidFill>
                <a:latin typeface="맑은 고딕"/>
                <a:ea typeface="맑은 고딕"/>
                <a:cs typeface="맑은 고딕"/>
              </a:rPr>
              <a:t>넓은 곳으로</a:t>
            </a:r>
          </a:p>
        </p:txBody>
      </p:sp>
      <p:cxnSp>
        <p:nvCxnSpPr>
          <p:cNvPr id="35" name="Connector 34"/>
          <p:cNvCxnSpPr/>
          <p:nvPr/>
        </p:nvCxnSpPr>
        <p:spPr>
          <a:xfrm>
            <a:off x="5285231" y="5440680"/>
            <a:ext cx="109728" cy="0"/>
          </a:xfrm>
          <a:prstGeom prst="line">
            <a:avLst/>
          </a:prstGeom>
          <a:ln w="1587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394959" y="5166360"/>
            <a:ext cx="1188720" cy="54864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0" i="0">
                <a:solidFill>
                  <a:srgbClr val="1E2933"/>
                </a:solidFill>
                <a:latin typeface="맑은 고딕"/>
                <a:ea typeface="맑은 고딕"/>
                <a:cs typeface="맑은 고딕"/>
              </a:rPr>
              <a:t>10°씩 18번 회전</a:t>
            </a:r>
          </a:p>
        </p:txBody>
      </p:sp>
      <p:cxnSp>
        <p:nvCxnSpPr>
          <p:cNvPr id="37" name="Connector 36"/>
          <p:cNvCxnSpPr/>
          <p:nvPr/>
        </p:nvCxnSpPr>
        <p:spPr>
          <a:xfrm>
            <a:off x="6583679" y="5440680"/>
            <a:ext cx="109728" cy="0"/>
          </a:xfrm>
          <a:prstGeom prst="line">
            <a:avLst/>
          </a:prstGeom>
          <a:ln w="1587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693407" y="5166360"/>
            <a:ext cx="1188720" cy="54864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0" i="0">
                <a:solidFill>
                  <a:srgbClr val="1E2933"/>
                </a:solidFill>
                <a:latin typeface="맑은 고딕"/>
                <a:ea typeface="맑은 고딕"/>
                <a:cs typeface="맑은 고딕"/>
              </a:rPr>
              <a:t>Fluent 앞</a:t>
            </a:r>
          </a:p>
        </p:txBody>
      </p:sp>
      <p:cxnSp>
        <p:nvCxnSpPr>
          <p:cNvPr id="39" name="Connector 38"/>
          <p:cNvCxnSpPr/>
          <p:nvPr/>
        </p:nvCxnSpPr>
        <p:spPr>
          <a:xfrm>
            <a:off x="7882127" y="5440680"/>
            <a:ext cx="109728" cy="0"/>
          </a:xfrm>
          <a:prstGeom prst="line">
            <a:avLst/>
          </a:prstGeom>
          <a:ln w="1587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991855" y="5166360"/>
            <a:ext cx="1188720" cy="54864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0" i="0">
                <a:solidFill>
                  <a:srgbClr val="1E2933"/>
                </a:solidFill>
                <a:latin typeface="맑은 고딕"/>
                <a:ea typeface="맑은 고딕"/>
                <a:cs typeface="맑은 고딕"/>
              </a:rPr>
              <a:t>유리문 통과</a:t>
            </a:r>
          </a:p>
        </p:txBody>
      </p:sp>
      <p:cxnSp>
        <p:nvCxnSpPr>
          <p:cNvPr id="41" name="Connector 40"/>
          <p:cNvCxnSpPr/>
          <p:nvPr/>
        </p:nvCxnSpPr>
        <p:spPr>
          <a:xfrm>
            <a:off x="9180576" y="5440680"/>
            <a:ext cx="109727" cy="0"/>
          </a:xfrm>
          <a:prstGeom prst="line">
            <a:avLst/>
          </a:prstGeom>
          <a:ln w="1587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290303" y="5166360"/>
            <a:ext cx="777240" cy="548640"/>
          </a:xfrm>
          <a:prstGeom prst="roundRect">
            <a:avLst>
              <a:gd name="adj" fmla="val 8000"/>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맑은 고딕"/>
                <a:ea typeface="맑은 고딕"/>
                <a:cs typeface="맑은 고딕"/>
              </a:rPr>
              <a:t>놓기</a:t>
            </a:r>
          </a:p>
        </p:txBody>
      </p:sp>
      <p:cxnSp>
        <p:nvCxnSpPr>
          <p:cNvPr id="43" name="Connector 42"/>
          <p:cNvCxnSpPr/>
          <p:nvPr/>
        </p:nvCxnSpPr>
        <p:spPr>
          <a:xfrm>
            <a:off x="10067543" y="5440680"/>
            <a:ext cx="109728" cy="0"/>
          </a:xfrm>
          <a:prstGeom prst="line">
            <a:avLst/>
          </a:prstGeom>
          <a:ln w="15875">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10177272" y="5166360"/>
            <a:ext cx="1188720" cy="54864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0" i="0">
                <a:solidFill>
                  <a:srgbClr val="1E2933"/>
                </a:solidFill>
                <a:latin typeface="맑은 고딕"/>
                <a:ea typeface="맑은 고딕"/>
                <a:cs typeface="맑은 고딕"/>
              </a:rPr>
              <a:t>빠져나오기</a:t>
            </a:r>
          </a:p>
        </p:txBody>
      </p:sp>
      <p:sp>
        <p:nvSpPr>
          <p:cNvPr id="45" name="TextBox 44"/>
          <p:cNvSpPr txBox="1"/>
          <p:nvPr/>
        </p:nvSpPr>
        <p:spPr>
          <a:xfrm>
            <a:off x="548640" y="5943600"/>
            <a:ext cx="11064240" cy="36576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구간별 경유지 수: Hotel→Fluent 34 · Fluent→STX44 17 · STX44→Reader 14 · Reader→Fluent 37 · Reader→Waste 12</a:t>
            </a:r>
          </a:p>
        </p:txBody>
      </p:sp>
      <p:sp>
        <p:nvSpPr>
          <p:cNvPr id="46" name="TextBox 45"/>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경유지 하나를 지나가는 5단계</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경유지가 바뀔 때마다 이 순서로 계획하고 움직인다</a:t>
            </a:r>
          </a:p>
        </p:txBody>
      </p:sp>
      <p:sp>
        <p:nvSpPr>
          <p:cNvPr id="4" name="Rounded Rectangle 3"/>
          <p:cNvSpPr/>
          <p:nvPr/>
        </p:nvSpPr>
        <p:spPr>
          <a:xfrm>
            <a:off x="548640" y="1920240"/>
            <a:ext cx="2057400" cy="356616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2148840"/>
            <a:ext cx="502920" cy="50292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1</a:t>
            </a:r>
          </a:p>
        </p:txBody>
      </p:sp>
      <p:sp>
        <p:nvSpPr>
          <p:cNvPr id="6" name="TextBox 5"/>
          <p:cNvSpPr txBox="1"/>
          <p:nvPr/>
        </p:nvSpPr>
        <p:spPr>
          <a:xfrm>
            <a:off x="731520" y="2834640"/>
            <a:ext cx="1783080" cy="45720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경로 계획</a:t>
            </a:r>
          </a:p>
        </p:txBody>
      </p:sp>
      <p:sp>
        <p:nvSpPr>
          <p:cNvPr id="7" name="TextBox 6"/>
          <p:cNvSpPr txBox="1"/>
          <p:nvPr/>
        </p:nvSpPr>
        <p:spPr>
          <a:xfrm>
            <a:off x="731520" y="3337560"/>
            <a:ext cx="1737360" cy="2011680"/>
          </a:xfrm>
          <a:prstGeom prst="rect">
            <a:avLst/>
          </a:prstGeom>
          <a:noFill/>
        </p:spPr>
        <p:txBody>
          <a:bodyPr wrap="square" anchor="t" lIns="0" rIns="0" tIns="0" bIns="0">
            <a:spAutoFit/>
          </a:bodyPr>
          <a:lstStyle/>
          <a:p>
            <a:pPr algn="l">
              <a:spcAft>
                <a:spcPts val="600"/>
              </a:spcAft>
            </a:pPr>
            <a:r>
              <a:rPr sz="1200" b="0" i="0">
                <a:solidFill>
                  <a:srgbClr val="5F6B76"/>
                </a:solidFill>
                <a:latin typeface="맑은 고딕"/>
                <a:ea typeface="맑은 고딕"/>
                <a:cs typeface="맑은 고딕"/>
              </a:rPr>
              <a:t>빈손: 관절 각도를 곧게 보간</a:t>
            </a:r>
          </a:p>
          <a:p>
            <a:pPr algn="l">
              <a:spcAft>
                <a:spcPts val="600"/>
              </a:spcAft>
            </a:pPr>
            <a:r>
              <a:rPr sz="1200" b="0" i="0">
                <a:solidFill>
                  <a:srgbClr val="5F6B76"/>
                </a:solidFill>
                <a:latin typeface="맑은 고딕"/>
                <a:ea typeface="맑은 고딕"/>
                <a:cs typeface="맑은 고딕"/>
              </a:rPr>
              <a:t>plate 운반: 경로를 30점으로 쪼개 점마다 수평 IK</a:t>
            </a:r>
          </a:p>
        </p:txBody>
      </p:sp>
      <p:cxnSp>
        <p:nvCxnSpPr>
          <p:cNvPr id="8" name="Connector 7"/>
          <p:cNvCxnSpPr/>
          <p:nvPr/>
        </p:nvCxnSpPr>
        <p:spPr>
          <a:xfrm>
            <a:off x="2606040" y="3703320"/>
            <a:ext cx="210312" cy="0"/>
          </a:xfrm>
          <a:prstGeom prst="line">
            <a:avLst/>
          </a:prstGeom>
          <a:ln w="19050">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16352" y="1920240"/>
            <a:ext cx="2057400" cy="356616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99232" y="2148840"/>
            <a:ext cx="502920" cy="50292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2</a:t>
            </a:r>
          </a:p>
        </p:txBody>
      </p:sp>
      <p:sp>
        <p:nvSpPr>
          <p:cNvPr id="11" name="TextBox 10"/>
          <p:cNvSpPr txBox="1"/>
          <p:nvPr/>
        </p:nvSpPr>
        <p:spPr>
          <a:xfrm>
            <a:off x="2999232" y="2834640"/>
            <a:ext cx="1783080" cy="45720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헛회전 방지</a:t>
            </a:r>
          </a:p>
        </p:txBody>
      </p:sp>
      <p:sp>
        <p:nvSpPr>
          <p:cNvPr id="12" name="TextBox 11"/>
          <p:cNvSpPr txBox="1"/>
          <p:nvPr/>
        </p:nvSpPr>
        <p:spPr>
          <a:xfrm>
            <a:off x="2999232" y="3337560"/>
            <a:ext cx="1737360" cy="2011680"/>
          </a:xfrm>
          <a:prstGeom prst="rect">
            <a:avLst/>
          </a:prstGeom>
          <a:noFill/>
        </p:spPr>
        <p:txBody>
          <a:bodyPr wrap="square" anchor="t" lIns="0" rIns="0" tIns="0" bIns="0">
            <a:spAutoFit/>
          </a:bodyPr>
          <a:lstStyle/>
          <a:p>
            <a:pPr algn="l">
              <a:spcAft>
                <a:spcPts val="600"/>
              </a:spcAft>
            </a:pPr>
            <a:r>
              <a:rPr sz="1200" b="0" i="0">
                <a:solidFill>
                  <a:srgbClr val="5F6B76"/>
                </a:solidFill>
                <a:latin typeface="맑은 고딕"/>
                <a:ea typeface="맑은 고딕"/>
                <a:cs typeface="맑은 고딕"/>
              </a:rPr>
              <a:t>10°와 370°는 같은 자세.</a:t>
            </a:r>
          </a:p>
          <a:p>
            <a:pPr algn="l">
              <a:spcAft>
                <a:spcPts val="600"/>
              </a:spcAft>
            </a:pPr>
            <a:r>
              <a:rPr sz="1200" b="0" i="0">
                <a:solidFill>
                  <a:srgbClr val="5F6B76"/>
                </a:solidFill>
                <a:latin typeface="맑은 고딕"/>
                <a:ea typeface="맑은 고딕"/>
                <a:cs typeface="맑은 고딕"/>
              </a:rPr>
              <a:t>가까운 쪽 각도를 골라 손목 한 바퀴 회전 방지</a:t>
            </a:r>
          </a:p>
        </p:txBody>
      </p:sp>
      <p:cxnSp>
        <p:nvCxnSpPr>
          <p:cNvPr id="13" name="Connector 12"/>
          <p:cNvCxnSpPr/>
          <p:nvPr/>
        </p:nvCxnSpPr>
        <p:spPr>
          <a:xfrm>
            <a:off x="4873752" y="3703320"/>
            <a:ext cx="210312" cy="0"/>
          </a:xfrm>
          <a:prstGeom prst="line">
            <a:avLst/>
          </a:prstGeom>
          <a:ln w="19050">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84064" y="1920240"/>
            <a:ext cx="2057400" cy="356616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266944" y="2148840"/>
            <a:ext cx="502920" cy="50292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3</a:t>
            </a:r>
          </a:p>
        </p:txBody>
      </p:sp>
      <p:sp>
        <p:nvSpPr>
          <p:cNvPr id="16" name="TextBox 15"/>
          <p:cNvSpPr txBox="1"/>
          <p:nvPr/>
        </p:nvSpPr>
        <p:spPr>
          <a:xfrm>
            <a:off x="5266944" y="2834640"/>
            <a:ext cx="1783080" cy="45720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S-curve 속도</a:t>
            </a:r>
          </a:p>
        </p:txBody>
      </p:sp>
      <p:sp>
        <p:nvSpPr>
          <p:cNvPr id="17" name="TextBox 16"/>
          <p:cNvSpPr txBox="1"/>
          <p:nvPr/>
        </p:nvSpPr>
        <p:spPr>
          <a:xfrm>
            <a:off x="5266944" y="3337560"/>
            <a:ext cx="1737360" cy="2011680"/>
          </a:xfrm>
          <a:prstGeom prst="rect">
            <a:avLst/>
          </a:prstGeom>
          <a:noFill/>
        </p:spPr>
        <p:txBody>
          <a:bodyPr wrap="square" anchor="t" lIns="0" rIns="0" tIns="0" bIns="0">
            <a:spAutoFit/>
          </a:bodyPr>
          <a:lstStyle/>
          <a:p>
            <a:pPr algn="l">
              <a:spcAft>
                <a:spcPts val="600"/>
              </a:spcAft>
            </a:pPr>
            <a:r>
              <a:rPr sz="1200" b="0" i="0">
                <a:solidFill>
                  <a:srgbClr val="5F6B76"/>
                </a:solidFill>
                <a:latin typeface="맑은 고딕"/>
                <a:ea typeface="맑은 고딕"/>
                <a:cs typeface="맑은 고딕"/>
              </a:rPr>
              <a:t>천천히 출발·가속·감속.</a:t>
            </a:r>
          </a:p>
          <a:p>
            <a:pPr algn="l">
              <a:spcAft>
                <a:spcPts val="600"/>
              </a:spcAft>
            </a:pPr>
            <a:r>
              <a:rPr sz="1200" b="0" i="0">
                <a:solidFill>
                  <a:srgbClr val="5F6B76"/>
                </a:solidFill>
                <a:latin typeface="맑은 고딕"/>
                <a:ea typeface="맑은 고딕"/>
                <a:cs typeface="맑은 고딕"/>
              </a:rPr>
              <a:t>레일 0.12 m/s, 팔 0.12 rad/s, 운반 중 0.06 rad/s</a:t>
            </a:r>
          </a:p>
        </p:txBody>
      </p:sp>
      <p:cxnSp>
        <p:nvCxnSpPr>
          <p:cNvPr id="18" name="Connector 17"/>
          <p:cNvCxnSpPr/>
          <p:nvPr/>
        </p:nvCxnSpPr>
        <p:spPr>
          <a:xfrm>
            <a:off x="7141464" y="3703320"/>
            <a:ext cx="210311" cy="0"/>
          </a:xfrm>
          <a:prstGeom prst="line">
            <a:avLst/>
          </a:prstGeom>
          <a:ln w="19050">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51775" y="1920240"/>
            <a:ext cx="2057400" cy="3566160"/>
          </a:xfrm>
          <a:prstGeom prst="roundRect">
            <a:avLst>
              <a:gd name="adj" fmla="val 8000"/>
            </a:avLst>
          </a:prstGeom>
          <a:solidFill>
            <a:srgbClr val="E3F2EF"/>
          </a:solidFill>
          <a:ln w="15875">
            <a:solidFill>
              <a:srgbClr val="1F8A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34655" y="2148840"/>
            <a:ext cx="502920" cy="50292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4</a:t>
            </a:r>
          </a:p>
        </p:txBody>
      </p:sp>
      <p:sp>
        <p:nvSpPr>
          <p:cNvPr id="21" name="TextBox 20"/>
          <p:cNvSpPr txBox="1"/>
          <p:nvPr/>
        </p:nvSpPr>
        <p:spPr>
          <a:xfrm>
            <a:off x="7534655" y="2834640"/>
            <a:ext cx="1783080" cy="45720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수평 보정</a:t>
            </a:r>
          </a:p>
        </p:txBody>
      </p:sp>
      <p:sp>
        <p:nvSpPr>
          <p:cNvPr id="22" name="TextBox 21"/>
          <p:cNvSpPr txBox="1"/>
          <p:nvPr/>
        </p:nvSpPr>
        <p:spPr>
          <a:xfrm>
            <a:off x="7534655" y="3337560"/>
            <a:ext cx="1737360" cy="2011680"/>
          </a:xfrm>
          <a:prstGeom prst="rect">
            <a:avLst/>
          </a:prstGeom>
          <a:noFill/>
        </p:spPr>
        <p:txBody>
          <a:bodyPr wrap="square" anchor="t" lIns="0" rIns="0" tIns="0" bIns="0">
            <a:spAutoFit/>
          </a:bodyPr>
          <a:lstStyle/>
          <a:p>
            <a:pPr algn="l">
              <a:spcAft>
                <a:spcPts val="600"/>
              </a:spcAft>
            </a:pPr>
            <a:r>
              <a:rPr sz="1200" b="0" i="0">
                <a:solidFill>
                  <a:srgbClr val="5F6B76"/>
                </a:solidFill>
                <a:latin typeface="맑은 고딕"/>
                <a:ea typeface="맑은 고딕"/>
                <a:cs typeface="맑은 고딕"/>
              </a:rPr>
              <a:t>관절이 무게로 처지면 기울기가 쌓임.</a:t>
            </a:r>
          </a:p>
          <a:p>
            <a:pPr algn="l">
              <a:spcAft>
                <a:spcPts val="600"/>
              </a:spcAft>
            </a:pPr>
            <a:r>
              <a:rPr sz="1200" b="0" i="0">
                <a:solidFill>
                  <a:srgbClr val="5F6B76"/>
                </a:solidFill>
                <a:latin typeface="맑은 고딕"/>
                <a:ea typeface="맑은 고딕"/>
                <a:cs typeface="맑은 고딕"/>
              </a:rPr>
              <a:t>매 순간 측정해 관절 목표를 살짝 수정 (10/2 추가)</a:t>
            </a:r>
          </a:p>
        </p:txBody>
      </p:sp>
      <p:cxnSp>
        <p:nvCxnSpPr>
          <p:cNvPr id="23" name="Connector 22"/>
          <p:cNvCxnSpPr/>
          <p:nvPr/>
        </p:nvCxnSpPr>
        <p:spPr>
          <a:xfrm>
            <a:off x="9409176" y="3703320"/>
            <a:ext cx="210312" cy="0"/>
          </a:xfrm>
          <a:prstGeom prst="line">
            <a:avLst/>
          </a:prstGeom>
          <a:ln w="19050">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19488" y="1920240"/>
            <a:ext cx="2057400" cy="356616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802367" y="2148840"/>
            <a:ext cx="502920" cy="50292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5</a:t>
            </a:r>
          </a:p>
        </p:txBody>
      </p:sp>
      <p:sp>
        <p:nvSpPr>
          <p:cNvPr id="26" name="TextBox 25"/>
          <p:cNvSpPr txBox="1"/>
          <p:nvPr/>
        </p:nvSpPr>
        <p:spPr>
          <a:xfrm>
            <a:off x="9802367" y="2834640"/>
            <a:ext cx="1783080" cy="457200"/>
          </a:xfrm>
          <a:prstGeom prst="rect">
            <a:avLst/>
          </a:prstGeom>
          <a:noFill/>
        </p:spPr>
        <p:txBody>
          <a:bodyPr wrap="square" anchor="t" lIns="0" rIns="0" tIns="0" bIns="0">
            <a:spAutoFit/>
          </a:bodyPr>
          <a:lstStyle/>
          <a:p>
            <a:pPr algn="l"/>
            <a:r>
              <a:rPr sz="1600" b="1" i="0">
                <a:solidFill>
                  <a:srgbClr val="1E2933"/>
                </a:solidFill>
                <a:latin typeface="맑은 고딕"/>
                <a:ea typeface="맑은 고딕"/>
                <a:cs typeface="맑은 고딕"/>
              </a:rPr>
              <a:t>다음 경유지로</a:t>
            </a:r>
          </a:p>
        </p:txBody>
      </p:sp>
      <p:sp>
        <p:nvSpPr>
          <p:cNvPr id="27" name="TextBox 26"/>
          <p:cNvSpPr txBox="1"/>
          <p:nvPr/>
        </p:nvSpPr>
        <p:spPr>
          <a:xfrm>
            <a:off x="9802367" y="3337560"/>
            <a:ext cx="1737360" cy="2011680"/>
          </a:xfrm>
          <a:prstGeom prst="rect">
            <a:avLst/>
          </a:prstGeom>
          <a:noFill/>
        </p:spPr>
        <p:txBody>
          <a:bodyPr wrap="square" anchor="t" lIns="0" rIns="0" tIns="0" bIns="0">
            <a:spAutoFit/>
          </a:bodyPr>
          <a:lstStyle/>
          <a:p>
            <a:pPr algn="l">
              <a:spcAft>
                <a:spcPts val="600"/>
              </a:spcAft>
            </a:pPr>
            <a:r>
              <a:rPr sz="1200" b="0" i="0">
                <a:solidFill>
                  <a:srgbClr val="5F6B76"/>
                </a:solidFill>
                <a:latin typeface="맑은 고딕"/>
                <a:ea typeface="맑은 고딕"/>
                <a:cs typeface="맑은 고딕"/>
              </a:rPr>
              <a:t>그리퍼 끝 25 mm, 방향 12° 이내로</a:t>
            </a:r>
          </a:p>
          <a:p>
            <a:pPr algn="l">
              <a:spcAft>
                <a:spcPts val="600"/>
              </a:spcAft>
            </a:pPr>
            <a:r>
              <a:rPr sz="1200" b="0" i="0">
                <a:solidFill>
                  <a:srgbClr val="5F6B76"/>
                </a:solidFill>
                <a:latin typeface="맑은 고딕"/>
                <a:ea typeface="맑은 고딕"/>
                <a:cs typeface="맑은 고딕"/>
              </a:rPr>
              <a:t>가까워지면 다음 단계</a:t>
            </a:r>
          </a:p>
        </p:txBody>
      </p:sp>
      <p:sp>
        <p:nvSpPr>
          <p:cNvPr id="28" name="TextBox 27"/>
          <p:cNvSpPr txBox="1"/>
          <p:nvPr/>
        </p:nvSpPr>
        <p:spPr>
          <a:xfrm>
            <a:off x="548640" y="5760720"/>
            <a:ext cx="11064240" cy="45720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핵심 코드: lab_rl/envs/hotel_to_fluent.py — 나머지 구간 파일은 이를 상속하고 경유지 목록만 바꾼다</a:t>
            </a:r>
          </a:p>
        </p:txBody>
      </p:sp>
      <p:sp>
        <p:nvSpPr>
          <p:cNvPr id="29" name="TextBox 28"/>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집기·놓기, 그리고 0.04초마다 검사하는 감독관</a:t>
            </a:r>
          </a:p>
        </p:txBody>
      </p:sp>
      <p:sp>
        <p:nvSpPr>
          <p:cNvPr id="3" name="Rounded Rectangle 2"/>
          <p:cNvSpPr/>
          <p:nvPr/>
        </p:nvSpPr>
        <p:spPr>
          <a:xfrm>
            <a:off x="548640" y="1463040"/>
            <a:ext cx="5120640" cy="466344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4572000" cy="457200"/>
          </a:xfrm>
          <a:prstGeom prst="rect">
            <a:avLst/>
          </a:prstGeom>
          <a:noFill/>
        </p:spPr>
        <p:txBody>
          <a:bodyPr wrap="square" anchor="t" lIns="0" rIns="0" tIns="0" bIns="0">
            <a:spAutoFit/>
          </a:bodyPr>
          <a:lstStyle/>
          <a:p>
            <a:pPr algn="l"/>
            <a:r>
              <a:rPr sz="1900" b="1" i="0">
                <a:solidFill>
                  <a:srgbClr val="1F8A7E"/>
                </a:solidFill>
                <a:latin typeface="맑은 고딕"/>
                <a:ea typeface="맑은 고딕"/>
                <a:cs typeface="맑은 고딕"/>
              </a:rPr>
              <a:t>집기와 놓기</a:t>
            </a:r>
          </a:p>
        </p:txBody>
      </p:sp>
      <p:sp>
        <p:nvSpPr>
          <p:cNvPr id="5" name="TextBox 4"/>
          <p:cNvSpPr txBox="1"/>
          <p:nvPr/>
        </p:nvSpPr>
        <p:spPr>
          <a:xfrm>
            <a:off x="822960" y="2286000"/>
            <a:ext cx="4572000" cy="3657600"/>
          </a:xfrm>
          <a:prstGeom prst="rect">
            <a:avLst/>
          </a:prstGeom>
          <a:noFill/>
        </p:spPr>
        <p:txBody>
          <a:bodyPr wrap="square" lIns="0" rIns="0" tIns="0" bIns="0">
            <a:spAutoFit/>
          </a:bodyPr>
          <a:lstStyle/>
          <a:p>
            <a:pPr marL="201168" indent="-201168">
              <a:spcAft>
                <a:spcPts val="1000"/>
              </a:spcAft>
              <a:buChar char="•"/>
            </a:pPr>
            <a:r>
              <a:rPr sz="1400" b="1" i="0">
                <a:solidFill>
                  <a:srgbClr val="1E2933"/>
                </a:solidFill>
                <a:latin typeface="맑은 고딕"/>
                <a:ea typeface="맑은 고딕"/>
                <a:cs typeface="맑은 고딕"/>
              </a:rPr>
              <a:t>집기: </a:t>
            </a:r>
            <a:r>
              <a:rPr sz="1400" b="0" i="0">
                <a:solidFill>
                  <a:srgbClr val="1E2933"/>
                </a:solidFill>
                <a:latin typeface="맑은 고딕"/>
                <a:ea typeface="맑은 고딕"/>
                <a:cs typeface="맑은 고딕"/>
              </a:rPr>
              <a:t>그리퍼가 닫히면 plate를 그리퍼에 고정(weld). 순간이동 없이 물리 엔진이 들고 옮긴다.</a:t>
            </a:r>
          </a:p>
          <a:p>
            <a:pPr marL="201168" indent="-201168">
              <a:spcAft>
                <a:spcPts val="1000"/>
              </a:spcAft>
              <a:buChar char="•"/>
            </a:pPr>
            <a:r>
              <a:rPr sz="1400" b="1" i="0">
                <a:solidFill>
                  <a:srgbClr val="1E2933"/>
                </a:solidFill>
                <a:latin typeface="맑은 고딕"/>
                <a:ea typeface="맑은 고딕"/>
                <a:cs typeface="맑은 고딕"/>
              </a:rPr>
              <a:t>놓기 위치 보정 </a:t>
            </a:r>
            <a:r>
              <a:rPr sz="1400" b="1" i="0">
                <a:solidFill>
                  <a:srgbClr val="1F8A7E"/>
                </a:solidFill>
                <a:latin typeface="맑은 고딕"/>
                <a:ea typeface="맑은 고딕"/>
                <a:cs typeface="맑은 고딕"/>
              </a:rPr>
              <a:t>(10/2): </a:t>
            </a:r>
            <a:r>
              <a:rPr sz="1400" b="0" i="0">
                <a:solidFill>
                  <a:srgbClr val="1E2933"/>
                </a:solidFill>
                <a:latin typeface="맑은 고딕"/>
                <a:ea typeface="맑은 고딕"/>
                <a:cs typeface="맑은 고딕"/>
              </a:rPr>
              <a:t>실제로 잡은 위치를 반영해 plate가 받침대 중심, 3 mm 위에 오도록 맞춘다.</a:t>
            </a:r>
          </a:p>
          <a:p>
            <a:pPr marL="201168" indent="-201168">
              <a:spcAft>
                <a:spcPts val="1000"/>
              </a:spcAft>
              <a:buChar char="•"/>
            </a:pPr>
            <a:r>
              <a:rPr sz="1400" b="1" i="0">
                <a:solidFill>
                  <a:srgbClr val="1E2933"/>
                </a:solidFill>
                <a:latin typeface="맑은 고딕"/>
                <a:ea typeface="맑은 고딕"/>
                <a:cs typeface="맑은 고딕"/>
              </a:rPr>
              <a:t>놓기 조건 </a:t>
            </a:r>
            <a:r>
              <a:rPr sz="1400" b="1" i="0">
                <a:solidFill>
                  <a:srgbClr val="1F8A7E"/>
                </a:solidFill>
                <a:latin typeface="맑은 고딕"/>
                <a:ea typeface="맑은 고딕"/>
                <a:cs typeface="맑은 고딕"/>
              </a:rPr>
              <a:t>(10/2): </a:t>
            </a:r>
            <a:r>
              <a:rPr sz="1400" b="0" i="0">
                <a:solidFill>
                  <a:srgbClr val="1E2933"/>
                </a:solidFill>
                <a:latin typeface="맑은 고딕"/>
                <a:ea typeface="맑은 고딕"/>
                <a:cs typeface="맑은 고딕"/>
              </a:rPr>
              <a:t>내려놓는 동작이 끝나고 plate가 제자리(XY 20 mm, 높이 15 mm 이내)에 멈췄을 때만 연다.</a:t>
            </a:r>
          </a:p>
        </p:txBody>
      </p:sp>
      <p:sp>
        <p:nvSpPr>
          <p:cNvPr id="6" name="TextBox 5"/>
          <p:cNvSpPr txBox="1"/>
          <p:nvPr/>
        </p:nvSpPr>
        <p:spPr>
          <a:xfrm>
            <a:off x="6035040" y="1691640"/>
            <a:ext cx="5577840" cy="457200"/>
          </a:xfrm>
          <a:prstGeom prst="rect">
            <a:avLst/>
          </a:prstGeom>
          <a:noFill/>
        </p:spPr>
        <p:txBody>
          <a:bodyPr wrap="square" anchor="t" lIns="0" rIns="0" tIns="0" bIns="0">
            <a:spAutoFit/>
          </a:bodyPr>
          <a:lstStyle/>
          <a:p>
            <a:pPr algn="l"/>
            <a:r>
              <a:rPr sz="1900" b="1" i="0">
                <a:solidFill>
                  <a:srgbClr val="16323F"/>
                </a:solidFill>
                <a:latin typeface="맑은 고딕"/>
                <a:ea typeface="맑은 고딕"/>
                <a:cs typeface="맑은 고딕"/>
              </a:rPr>
              <a:t>감독관 검사 (매 step = 0.04초)</a:t>
            </a:r>
          </a:p>
        </p:txBody>
      </p:sp>
      <p:sp>
        <p:nvSpPr>
          <p:cNvPr id="7" name="Rounded Rectangle 6"/>
          <p:cNvSpPr/>
          <p:nvPr/>
        </p:nvSpPr>
        <p:spPr>
          <a:xfrm>
            <a:off x="6035040" y="2286000"/>
            <a:ext cx="5623560" cy="64008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2286000"/>
            <a:ext cx="1371600" cy="640080"/>
          </a:xfrm>
          <a:prstGeom prst="rect">
            <a:avLst/>
          </a:prstGeom>
          <a:noFill/>
        </p:spPr>
        <p:txBody>
          <a:bodyPr wrap="square" anchor="ctr" lIns="0" rIns="0" tIns="0" bIns="0">
            <a:spAutoFit/>
          </a:bodyPr>
          <a:lstStyle/>
          <a:p>
            <a:pPr algn="l"/>
            <a:r>
              <a:rPr sz="1400" b="1" i="0">
                <a:solidFill>
                  <a:srgbClr val="1E2933"/>
                </a:solidFill>
                <a:latin typeface="맑은 고딕"/>
                <a:ea typeface="맑은 고딕"/>
                <a:cs typeface="맑은 고딕"/>
              </a:rPr>
              <a:t>충돌</a:t>
            </a:r>
          </a:p>
        </p:txBody>
      </p:sp>
      <p:sp>
        <p:nvSpPr>
          <p:cNvPr id="9" name="TextBox 8"/>
          <p:cNvSpPr txBox="1"/>
          <p:nvPr/>
        </p:nvSpPr>
        <p:spPr>
          <a:xfrm>
            <a:off x="7589520" y="2286000"/>
            <a:ext cx="2743200" cy="640080"/>
          </a:xfrm>
          <a:prstGeom prst="rect">
            <a:avLst/>
          </a:prstGeom>
          <a:noFill/>
        </p:spPr>
        <p:txBody>
          <a:bodyPr wrap="square" anchor="ctr" lIns="0" rIns="0" tIns="0" bIns="0">
            <a:spAutoFit/>
          </a:bodyPr>
          <a:lstStyle/>
          <a:p>
            <a:pPr algn="l"/>
            <a:r>
              <a:rPr sz="1300" b="0" i="0">
                <a:solidFill>
                  <a:srgbClr val="5F6B76"/>
                </a:solidFill>
                <a:latin typeface="맑은 고딕"/>
                <a:ea typeface="맑은 고딕"/>
                <a:cs typeface="맑은 고딕"/>
              </a:rPr>
              <a:t>로봇–장비 접촉 0건</a:t>
            </a:r>
          </a:p>
        </p:txBody>
      </p:sp>
      <p:sp>
        <p:nvSpPr>
          <p:cNvPr id="10" name="TextBox 9"/>
          <p:cNvSpPr txBox="1"/>
          <p:nvPr/>
        </p:nvSpPr>
        <p:spPr>
          <a:xfrm>
            <a:off x="10241280" y="2286000"/>
            <a:ext cx="1280160" cy="640080"/>
          </a:xfrm>
          <a:prstGeom prst="rect">
            <a:avLst/>
          </a:prstGeom>
          <a:noFill/>
        </p:spPr>
        <p:txBody>
          <a:bodyPr wrap="square" anchor="ctr" lIns="0" rIns="0" tIns="0" bIns="0">
            <a:spAutoFit/>
          </a:bodyPr>
          <a:lstStyle/>
          <a:p>
            <a:pPr algn="r"/>
            <a:r>
              <a:rPr sz="1300" b="1" i="0">
                <a:solidFill>
                  <a:srgbClr val="D95D39"/>
                </a:solidFill>
                <a:latin typeface="맑은 고딕"/>
                <a:ea typeface="맑은 고딕"/>
                <a:cs typeface="맑은 고딕"/>
              </a:rPr>
              <a:t>즉시 실패</a:t>
            </a:r>
          </a:p>
        </p:txBody>
      </p:sp>
      <p:sp>
        <p:nvSpPr>
          <p:cNvPr id="11" name="Rounded Rectangle 10"/>
          <p:cNvSpPr/>
          <p:nvPr/>
        </p:nvSpPr>
        <p:spPr>
          <a:xfrm>
            <a:off x="6035040" y="3044952"/>
            <a:ext cx="5623560" cy="64008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3044952"/>
            <a:ext cx="1371600" cy="640080"/>
          </a:xfrm>
          <a:prstGeom prst="rect">
            <a:avLst/>
          </a:prstGeom>
          <a:noFill/>
        </p:spPr>
        <p:txBody>
          <a:bodyPr wrap="square" anchor="ctr" lIns="0" rIns="0" tIns="0" bIns="0">
            <a:spAutoFit/>
          </a:bodyPr>
          <a:lstStyle/>
          <a:p>
            <a:pPr algn="l"/>
            <a:r>
              <a:rPr sz="1400" b="1" i="0">
                <a:solidFill>
                  <a:srgbClr val="1E2933"/>
                </a:solidFill>
                <a:latin typeface="맑은 고딕"/>
                <a:ea typeface="맑은 고딕"/>
                <a:cs typeface="맑은 고딕"/>
              </a:rPr>
              <a:t>기울기</a:t>
            </a:r>
          </a:p>
        </p:txBody>
      </p:sp>
      <p:sp>
        <p:nvSpPr>
          <p:cNvPr id="13" name="TextBox 12"/>
          <p:cNvSpPr txBox="1"/>
          <p:nvPr/>
        </p:nvSpPr>
        <p:spPr>
          <a:xfrm>
            <a:off x="7589520" y="3044952"/>
            <a:ext cx="2743200" cy="640080"/>
          </a:xfrm>
          <a:prstGeom prst="rect">
            <a:avLst/>
          </a:prstGeom>
          <a:noFill/>
        </p:spPr>
        <p:txBody>
          <a:bodyPr wrap="square" anchor="ctr" lIns="0" rIns="0" tIns="0" bIns="0">
            <a:spAutoFit/>
          </a:bodyPr>
          <a:lstStyle/>
          <a:p>
            <a:pPr algn="l"/>
            <a:r>
              <a:rPr sz="1300" b="0" i="0">
                <a:solidFill>
                  <a:srgbClr val="5F6B76"/>
                </a:solidFill>
                <a:latin typeface="맑은 고딕"/>
                <a:ea typeface="맑은 고딕"/>
                <a:cs typeface="맑은 고딕"/>
              </a:rPr>
              <a:t>plate 윗면 5° 이하</a:t>
            </a:r>
          </a:p>
        </p:txBody>
      </p:sp>
      <p:sp>
        <p:nvSpPr>
          <p:cNvPr id="14" name="TextBox 13"/>
          <p:cNvSpPr txBox="1"/>
          <p:nvPr/>
        </p:nvSpPr>
        <p:spPr>
          <a:xfrm>
            <a:off x="10241280" y="3044952"/>
            <a:ext cx="1280160" cy="640080"/>
          </a:xfrm>
          <a:prstGeom prst="rect">
            <a:avLst/>
          </a:prstGeom>
          <a:noFill/>
        </p:spPr>
        <p:txBody>
          <a:bodyPr wrap="square" anchor="ctr" lIns="0" rIns="0" tIns="0" bIns="0">
            <a:spAutoFit/>
          </a:bodyPr>
          <a:lstStyle/>
          <a:p>
            <a:pPr algn="r"/>
            <a:r>
              <a:rPr sz="1300" b="1" i="0">
                <a:solidFill>
                  <a:srgbClr val="D95D39"/>
                </a:solidFill>
                <a:latin typeface="맑은 고딕"/>
                <a:ea typeface="맑은 고딕"/>
                <a:cs typeface="맑은 고딕"/>
              </a:rPr>
              <a:t>즉시 실패</a:t>
            </a:r>
          </a:p>
        </p:txBody>
      </p:sp>
      <p:sp>
        <p:nvSpPr>
          <p:cNvPr id="15" name="Rounded Rectangle 14"/>
          <p:cNvSpPr/>
          <p:nvPr/>
        </p:nvSpPr>
        <p:spPr>
          <a:xfrm>
            <a:off x="6035040" y="3803904"/>
            <a:ext cx="5623560" cy="64008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3803904"/>
            <a:ext cx="1371600" cy="640080"/>
          </a:xfrm>
          <a:prstGeom prst="rect">
            <a:avLst/>
          </a:prstGeom>
          <a:noFill/>
        </p:spPr>
        <p:txBody>
          <a:bodyPr wrap="square" anchor="ctr" lIns="0" rIns="0" tIns="0" bIns="0">
            <a:spAutoFit/>
          </a:bodyPr>
          <a:lstStyle/>
          <a:p>
            <a:pPr algn="l"/>
            <a:r>
              <a:rPr sz="1400" b="1" i="0">
                <a:solidFill>
                  <a:srgbClr val="1E2933"/>
                </a:solidFill>
                <a:latin typeface="맑은 고딕"/>
                <a:ea typeface="맑은 고딕"/>
                <a:cs typeface="맑은 고딕"/>
              </a:rPr>
              <a:t>파지 유지</a:t>
            </a:r>
          </a:p>
        </p:txBody>
      </p:sp>
      <p:sp>
        <p:nvSpPr>
          <p:cNvPr id="17" name="TextBox 16"/>
          <p:cNvSpPr txBox="1"/>
          <p:nvPr/>
        </p:nvSpPr>
        <p:spPr>
          <a:xfrm>
            <a:off x="7589520" y="3803904"/>
            <a:ext cx="2743200" cy="640080"/>
          </a:xfrm>
          <a:prstGeom prst="rect">
            <a:avLst/>
          </a:prstGeom>
          <a:noFill/>
        </p:spPr>
        <p:txBody>
          <a:bodyPr wrap="square" anchor="ctr" lIns="0" rIns="0" tIns="0" bIns="0">
            <a:spAutoFit/>
          </a:bodyPr>
          <a:lstStyle/>
          <a:p>
            <a:pPr algn="l"/>
            <a:r>
              <a:rPr sz="1300" b="0" i="0">
                <a:solidFill>
                  <a:srgbClr val="5F6B76"/>
                </a:solidFill>
                <a:latin typeface="맑은 고딕"/>
                <a:ea typeface="맑은 고딕"/>
                <a:cs typeface="맑은 고딕"/>
              </a:rPr>
              <a:t>plate–그리퍼 50 mm 이하</a:t>
            </a:r>
          </a:p>
        </p:txBody>
      </p:sp>
      <p:sp>
        <p:nvSpPr>
          <p:cNvPr id="18" name="TextBox 17"/>
          <p:cNvSpPr txBox="1"/>
          <p:nvPr/>
        </p:nvSpPr>
        <p:spPr>
          <a:xfrm>
            <a:off x="10241280" y="3803904"/>
            <a:ext cx="1280160" cy="640080"/>
          </a:xfrm>
          <a:prstGeom prst="rect">
            <a:avLst/>
          </a:prstGeom>
          <a:noFill/>
        </p:spPr>
        <p:txBody>
          <a:bodyPr wrap="square" anchor="ctr" lIns="0" rIns="0" tIns="0" bIns="0">
            <a:spAutoFit/>
          </a:bodyPr>
          <a:lstStyle/>
          <a:p>
            <a:pPr algn="r"/>
            <a:r>
              <a:rPr sz="1300" b="1" i="0">
                <a:solidFill>
                  <a:srgbClr val="D95D39"/>
                </a:solidFill>
                <a:latin typeface="맑은 고딕"/>
                <a:ea typeface="맑은 고딕"/>
                <a:cs typeface="맑은 고딕"/>
              </a:rPr>
              <a:t>즉시 실패</a:t>
            </a:r>
          </a:p>
        </p:txBody>
      </p:sp>
      <p:sp>
        <p:nvSpPr>
          <p:cNvPr id="19" name="Rounded Rectangle 18"/>
          <p:cNvSpPr/>
          <p:nvPr/>
        </p:nvSpPr>
        <p:spPr>
          <a:xfrm>
            <a:off x="6035040" y="4562856"/>
            <a:ext cx="5623560" cy="64008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4562856"/>
            <a:ext cx="1371600" cy="640080"/>
          </a:xfrm>
          <a:prstGeom prst="rect">
            <a:avLst/>
          </a:prstGeom>
          <a:noFill/>
        </p:spPr>
        <p:txBody>
          <a:bodyPr wrap="square" anchor="ctr" lIns="0" rIns="0" tIns="0" bIns="0">
            <a:spAutoFit/>
          </a:bodyPr>
          <a:lstStyle/>
          <a:p>
            <a:pPr algn="l"/>
            <a:r>
              <a:rPr sz="1400" b="1" i="0">
                <a:solidFill>
                  <a:srgbClr val="1E2933"/>
                </a:solidFill>
                <a:latin typeface="맑은 고딕"/>
                <a:ea typeface="맑은 고딕"/>
                <a:cs typeface="맑은 고딕"/>
              </a:rPr>
              <a:t>낙하</a:t>
            </a:r>
          </a:p>
        </p:txBody>
      </p:sp>
      <p:sp>
        <p:nvSpPr>
          <p:cNvPr id="21" name="TextBox 20"/>
          <p:cNvSpPr txBox="1"/>
          <p:nvPr/>
        </p:nvSpPr>
        <p:spPr>
          <a:xfrm>
            <a:off x="7589520" y="4562856"/>
            <a:ext cx="2743200" cy="640080"/>
          </a:xfrm>
          <a:prstGeom prst="rect">
            <a:avLst/>
          </a:prstGeom>
          <a:noFill/>
        </p:spPr>
        <p:txBody>
          <a:bodyPr wrap="square" anchor="ctr" lIns="0" rIns="0" tIns="0" bIns="0">
            <a:spAutoFit/>
          </a:bodyPr>
          <a:lstStyle/>
          <a:p>
            <a:pPr algn="l"/>
            <a:r>
              <a:rPr sz="1300" b="0" i="0">
                <a:solidFill>
                  <a:srgbClr val="5F6B76"/>
                </a:solidFill>
                <a:latin typeface="맑은 고딕"/>
                <a:ea typeface="맑은 고딕"/>
                <a:cs typeface="맑은 고딕"/>
              </a:rPr>
              <a:t>plate 높이 40 mm 이상</a:t>
            </a:r>
          </a:p>
        </p:txBody>
      </p:sp>
      <p:sp>
        <p:nvSpPr>
          <p:cNvPr id="22" name="TextBox 21"/>
          <p:cNvSpPr txBox="1"/>
          <p:nvPr/>
        </p:nvSpPr>
        <p:spPr>
          <a:xfrm>
            <a:off x="10241280" y="4562856"/>
            <a:ext cx="1280160" cy="640080"/>
          </a:xfrm>
          <a:prstGeom prst="rect">
            <a:avLst/>
          </a:prstGeom>
          <a:noFill/>
        </p:spPr>
        <p:txBody>
          <a:bodyPr wrap="square" anchor="ctr" lIns="0" rIns="0" tIns="0" bIns="0">
            <a:spAutoFit/>
          </a:bodyPr>
          <a:lstStyle/>
          <a:p>
            <a:pPr algn="r"/>
            <a:r>
              <a:rPr sz="1300" b="1" i="0">
                <a:solidFill>
                  <a:srgbClr val="D95D39"/>
                </a:solidFill>
                <a:latin typeface="맑은 고딕"/>
                <a:ea typeface="맑은 고딕"/>
                <a:cs typeface="맑은 고딕"/>
              </a:rPr>
              <a:t>즉시 실패</a:t>
            </a:r>
          </a:p>
        </p:txBody>
      </p:sp>
      <p:sp>
        <p:nvSpPr>
          <p:cNvPr id="23" name="Rounded Rectangle 22"/>
          <p:cNvSpPr/>
          <p:nvPr/>
        </p:nvSpPr>
        <p:spPr>
          <a:xfrm>
            <a:off x="6035040" y="5321808"/>
            <a:ext cx="5623560" cy="64008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5321808"/>
            <a:ext cx="1371600" cy="640080"/>
          </a:xfrm>
          <a:prstGeom prst="rect">
            <a:avLst/>
          </a:prstGeom>
          <a:noFill/>
        </p:spPr>
        <p:txBody>
          <a:bodyPr wrap="square" anchor="ctr" lIns="0" rIns="0" tIns="0" bIns="0">
            <a:spAutoFit/>
          </a:bodyPr>
          <a:lstStyle/>
          <a:p>
            <a:pPr algn="l"/>
            <a:r>
              <a:rPr sz="1400" b="1" i="0">
                <a:solidFill>
                  <a:srgbClr val="1E2933"/>
                </a:solidFill>
                <a:latin typeface="맑은 고딕"/>
                <a:ea typeface="맑은 고딕"/>
                <a:cs typeface="맑은 고딕"/>
              </a:rPr>
              <a:t>최소 여유</a:t>
            </a:r>
          </a:p>
        </p:txBody>
      </p:sp>
      <p:sp>
        <p:nvSpPr>
          <p:cNvPr id="25" name="TextBox 24"/>
          <p:cNvSpPr txBox="1"/>
          <p:nvPr/>
        </p:nvSpPr>
        <p:spPr>
          <a:xfrm>
            <a:off x="7589520" y="5321808"/>
            <a:ext cx="2743200" cy="640080"/>
          </a:xfrm>
          <a:prstGeom prst="rect">
            <a:avLst/>
          </a:prstGeom>
          <a:noFill/>
        </p:spPr>
        <p:txBody>
          <a:bodyPr wrap="square" anchor="ctr" lIns="0" rIns="0" tIns="0" bIns="0">
            <a:spAutoFit/>
          </a:bodyPr>
          <a:lstStyle/>
          <a:p>
            <a:pPr algn="l"/>
            <a:r>
              <a:rPr sz="1300" b="0" i="0">
                <a:solidFill>
                  <a:srgbClr val="5F6B76"/>
                </a:solidFill>
                <a:latin typeface="맑은 고딕"/>
                <a:ea typeface="맑은 고딕"/>
                <a:cs typeface="맑은 고딕"/>
              </a:rPr>
              <a:t>장비와 10 mm 이상 권고</a:t>
            </a:r>
          </a:p>
        </p:txBody>
      </p:sp>
      <p:sp>
        <p:nvSpPr>
          <p:cNvPr id="26" name="TextBox 25"/>
          <p:cNvSpPr txBox="1"/>
          <p:nvPr/>
        </p:nvSpPr>
        <p:spPr>
          <a:xfrm>
            <a:off x="10241280" y="5321808"/>
            <a:ext cx="1280160" cy="640080"/>
          </a:xfrm>
          <a:prstGeom prst="rect">
            <a:avLst/>
          </a:prstGeom>
          <a:noFill/>
        </p:spPr>
        <p:txBody>
          <a:bodyPr wrap="square" anchor="ctr" lIns="0" rIns="0" tIns="0" bIns="0">
            <a:spAutoFit/>
          </a:bodyPr>
          <a:lstStyle/>
          <a:p>
            <a:pPr algn="r"/>
            <a:r>
              <a:rPr sz="1300" b="1" i="0">
                <a:solidFill>
                  <a:srgbClr val="5F6B76"/>
                </a:solidFill>
                <a:latin typeface="맑은 고딕"/>
                <a:ea typeface="맑은 고딕"/>
                <a:cs typeface="맑은 고딕"/>
              </a:rPr>
              <a:t>기록만</a:t>
            </a:r>
          </a:p>
        </p:txBody>
      </p:sp>
      <p:sp>
        <p:nvSpPr>
          <p:cNvPr id="27" name="TextBox 26"/>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구간을 이어 붙이고, 학습이 들어갈 자리를 남겨 두었다</a:t>
            </a:r>
          </a:p>
        </p:txBody>
      </p:sp>
      <p:graphicFrame>
        <p:nvGraphicFramePr>
          <p:cNvPr id="3" name="Chart 2"/>
          <p:cNvGraphicFramePr>
            <a:graphicFrameLocks noGrp="1"/>
          </p:cNvGraphicFramePr>
          <p:nvPr/>
        </p:nvGraphicFramePr>
        <p:xfrm>
          <a:off x="548640" y="1463040"/>
          <a:ext cx="5852160" cy="3840480"/>
        </p:xfrm>
        <a:graphic>
          <a:graphicData uri="http://schemas.openxmlformats.org/drawingml/2006/chart">
            <c:chart xmlns:c="http://schemas.openxmlformats.org/drawingml/2006/chart" r:id="rId2"/>
          </a:graphicData>
        </a:graphic>
      </p:graphicFrame>
      <p:sp>
        <p:nvSpPr>
          <p:cNvPr id="4" name="TextBox 3"/>
          <p:cNvSpPr txBox="1"/>
          <p:nvPr/>
        </p:nvSpPr>
        <p:spPr>
          <a:xfrm>
            <a:off x="548640" y="5440680"/>
            <a:ext cx="5852160" cy="82296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integrated_lab_process.py가 5개 목록을 하나로 잇는다. plate 하나가 Hotel부터 마지막 Reader나 Waste까지 이동한다.</a:t>
            </a:r>
          </a:p>
        </p:txBody>
      </p:sp>
      <p:sp>
        <p:nvSpPr>
          <p:cNvPr id="5" name="Rounded Rectangle 4"/>
          <p:cNvSpPr/>
          <p:nvPr/>
        </p:nvSpPr>
        <p:spPr>
          <a:xfrm>
            <a:off x="6766560" y="1463040"/>
            <a:ext cx="4892040" cy="466344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0" y="1691640"/>
            <a:ext cx="4389120" cy="457200"/>
          </a:xfrm>
          <a:prstGeom prst="rect">
            <a:avLst/>
          </a:prstGeom>
          <a:noFill/>
        </p:spPr>
        <p:txBody>
          <a:bodyPr wrap="square" anchor="t" lIns="0" rIns="0" tIns="0" bIns="0">
            <a:spAutoFit/>
          </a:bodyPr>
          <a:lstStyle/>
          <a:p>
            <a:pPr algn="l"/>
            <a:r>
              <a:rPr sz="1900" b="1" i="0">
                <a:solidFill>
                  <a:srgbClr val="1F8A7E"/>
                </a:solidFill>
                <a:latin typeface="맑은 고딕"/>
                <a:ea typeface="맑은 고딕"/>
                <a:cs typeface="맑은 고딕"/>
              </a:rPr>
              <a:t>강화학습(RL)이 들어갈 자리</a:t>
            </a:r>
          </a:p>
        </p:txBody>
      </p:sp>
      <p:sp>
        <p:nvSpPr>
          <p:cNvPr id="7" name="TextBox 6"/>
          <p:cNvSpPr txBox="1"/>
          <p:nvPr/>
        </p:nvSpPr>
        <p:spPr>
          <a:xfrm>
            <a:off x="7040880" y="2240280"/>
            <a:ext cx="4389120" cy="1005840"/>
          </a:xfrm>
          <a:prstGeom prst="rect">
            <a:avLst/>
          </a:prstGeom>
          <a:noFill/>
        </p:spPr>
        <p:txBody>
          <a:bodyPr wrap="square" anchor="t" lIns="0" rIns="0" tIns="0" bIns="0">
            <a:spAutoFit/>
          </a:bodyPr>
          <a:lstStyle/>
          <a:p>
            <a:pPr algn="l"/>
            <a:r>
              <a:rPr sz="1400" b="0" i="0">
                <a:solidFill>
                  <a:srgbClr val="1E2933"/>
                </a:solidFill>
                <a:latin typeface="맑은 고딕"/>
                <a:ea typeface="맑은 고딕"/>
                <a:cs typeface="맑은 고딕"/>
              </a:rPr>
              <a:t>환경은 Gymnasium 표준 형식. step(action)이 받는 숫자 7개를 기준 궤적 위에 조금씩 더한다.</a:t>
            </a:r>
          </a:p>
        </p:txBody>
      </p:sp>
      <p:sp>
        <p:nvSpPr>
          <p:cNvPr id="8" name="Rounded Rectangle 7"/>
          <p:cNvSpPr/>
          <p:nvPr/>
        </p:nvSpPr>
        <p:spPr>
          <a:xfrm>
            <a:off x="7040880" y="3429000"/>
            <a:ext cx="4343400" cy="502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0" y="3429000"/>
            <a:ext cx="1463040" cy="502920"/>
          </a:xfrm>
          <a:prstGeom prst="rect">
            <a:avLst/>
          </a:prstGeom>
          <a:noFill/>
        </p:spPr>
        <p:txBody>
          <a:bodyPr wrap="square" anchor="ctr" lIns="0" rIns="0" tIns="0" bIns="0">
            <a:spAutoFit/>
          </a:bodyPr>
          <a:lstStyle/>
          <a:p>
            <a:pPr algn="l"/>
            <a:r>
              <a:rPr sz="1400" b="1" i="0">
                <a:solidFill>
                  <a:srgbClr val="1E2933"/>
                </a:solidFill>
                <a:latin typeface="맑은 고딕"/>
                <a:ea typeface="맑은 고딕"/>
                <a:cs typeface="맑은 고딕"/>
              </a:rPr>
              <a:t>위치 3개</a:t>
            </a:r>
          </a:p>
        </p:txBody>
      </p:sp>
      <p:sp>
        <p:nvSpPr>
          <p:cNvPr id="10" name="TextBox 9"/>
          <p:cNvSpPr txBox="1"/>
          <p:nvPr/>
        </p:nvSpPr>
        <p:spPr>
          <a:xfrm>
            <a:off x="8686800" y="3429000"/>
            <a:ext cx="2560320" cy="502920"/>
          </a:xfrm>
          <a:prstGeom prst="rect">
            <a:avLst/>
          </a:prstGeom>
          <a:noFill/>
        </p:spPr>
        <p:txBody>
          <a:bodyPr wrap="square" anchor="ctr" lIns="0" rIns="0" tIns="0" bIns="0">
            <a:spAutoFit/>
          </a:bodyPr>
          <a:lstStyle/>
          <a:p>
            <a:pPr algn="l"/>
            <a:r>
              <a:rPr sz="1300" b="0" i="0">
                <a:solidFill>
                  <a:srgbClr val="5F6B76"/>
                </a:solidFill>
                <a:latin typeface="맑은 고딕"/>
                <a:ea typeface="맑은 고딕"/>
                <a:cs typeface="맑은 고딕"/>
              </a:rPr>
              <a:t>step당 최대 2 mm</a:t>
            </a:r>
          </a:p>
        </p:txBody>
      </p:sp>
      <p:sp>
        <p:nvSpPr>
          <p:cNvPr id="11" name="Rounded Rectangle 10"/>
          <p:cNvSpPr/>
          <p:nvPr/>
        </p:nvSpPr>
        <p:spPr>
          <a:xfrm>
            <a:off x="7040880" y="4069080"/>
            <a:ext cx="4343400" cy="502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4069080"/>
            <a:ext cx="1463040" cy="502920"/>
          </a:xfrm>
          <a:prstGeom prst="rect">
            <a:avLst/>
          </a:prstGeom>
          <a:noFill/>
        </p:spPr>
        <p:txBody>
          <a:bodyPr wrap="square" anchor="ctr" lIns="0" rIns="0" tIns="0" bIns="0">
            <a:spAutoFit/>
          </a:bodyPr>
          <a:lstStyle/>
          <a:p>
            <a:pPr algn="l"/>
            <a:r>
              <a:rPr sz="1400" b="1" i="0">
                <a:solidFill>
                  <a:srgbClr val="1E2933"/>
                </a:solidFill>
                <a:latin typeface="맑은 고딕"/>
                <a:ea typeface="맑은 고딕"/>
                <a:cs typeface="맑은 고딕"/>
              </a:rPr>
              <a:t>회전 3개</a:t>
            </a:r>
          </a:p>
        </p:txBody>
      </p:sp>
      <p:sp>
        <p:nvSpPr>
          <p:cNvPr id="13" name="TextBox 12"/>
          <p:cNvSpPr txBox="1"/>
          <p:nvPr/>
        </p:nvSpPr>
        <p:spPr>
          <a:xfrm>
            <a:off x="8686800" y="4069080"/>
            <a:ext cx="2560320" cy="502920"/>
          </a:xfrm>
          <a:prstGeom prst="rect">
            <a:avLst/>
          </a:prstGeom>
          <a:noFill/>
        </p:spPr>
        <p:txBody>
          <a:bodyPr wrap="square" anchor="ctr" lIns="0" rIns="0" tIns="0" bIns="0">
            <a:spAutoFit/>
          </a:bodyPr>
          <a:lstStyle/>
          <a:p>
            <a:pPr algn="l"/>
            <a:r>
              <a:rPr sz="1300" b="0" i="0">
                <a:solidFill>
                  <a:srgbClr val="5F6B76"/>
                </a:solidFill>
                <a:latin typeface="맑은 고딕"/>
                <a:ea typeface="맑은 고딕"/>
                <a:cs typeface="맑은 고딕"/>
              </a:rPr>
              <a:t>step당 최대 0.01 rad</a:t>
            </a:r>
          </a:p>
        </p:txBody>
      </p:sp>
      <p:sp>
        <p:nvSpPr>
          <p:cNvPr id="14" name="Rounded Rectangle 13"/>
          <p:cNvSpPr/>
          <p:nvPr/>
        </p:nvSpPr>
        <p:spPr>
          <a:xfrm>
            <a:off x="7040880" y="4709160"/>
            <a:ext cx="4343400" cy="502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4709160"/>
            <a:ext cx="1463040" cy="502920"/>
          </a:xfrm>
          <a:prstGeom prst="rect">
            <a:avLst/>
          </a:prstGeom>
          <a:noFill/>
        </p:spPr>
        <p:txBody>
          <a:bodyPr wrap="square" anchor="ctr" lIns="0" rIns="0" tIns="0" bIns="0">
            <a:spAutoFit/>
          </a:bodyPr>
          <a:lstStyle/>
          <a:p>
            <a:pPr algn="l"/>
            <a:r>
              <a:rPr sz="1400" b="1" i="0">
                <a:solidFill>
                  <a:srgbClr val="1E2933"/>
                </a:solidFill>
                <a:latin typeface="맑은 고딕"/>
                <a:ea typeface="맑은 고딕"/>
                <a:cs typeface="맑은 고딕"/>
              </a:rPr>
              <a:t>레일 1개</a:t>
            </a:r>
          </a:p>
        </p:txBody>
      </p:sp>
      <p:sp>
        <p:nvSpPr>
          <p:cNvPr id="16" name="TextBox 15"/>
          <p:cNvSpPr txBox="1"/>
          <p:nvPr/>
        </p:nvSpPr>
        <p:spPr>
          <a:xfrm>
            <a:off x="8686800" y="4709160"/>
            <a:ext cx="2560320" cy="502920"/>
          </a:xfrm>
          <a:prstGeom prst="rect">
            <a:avLst/>
          </a:prstGeom>
          <a:noFill/>
        </p:spPr>
        <p:txBody>
          <a:bodyPr wrap="square" anchor="ctr" lIns="0" rIns="0" tIns="0" bIns="0">
            <a:spAutoFit/>
          </a:bodyPr>
          <a:lstStyle/>
          <a:p>
            <a:pPr algn="l"/>
            <a:r>
              <a:rPr sz="1300" b="0" i="0">
                <a:solidFill>
                  <a:srgbClr val="5F6B76"/>
                </a:solidFill>
                <a:latin typeface="맑은 고딕"/>
                <a:ea typeface="맑은 고딕"/>
                <a:cs typeface="맑은 고딕"/>
              </a:rPr>
              <a:t>step당 최대 4 mm</a:t>
            </a:r>
          </a:p>
        </p:txBody>
      </p:sp>
      <p:sp>
        <p:nvSpPr>
          <p:cNvPr id="17" name="TextBox 16"/>
          <p:cNvSpPr txBox="1"/>
          <p:nvPr/>
        </p:nvSpPr>
        <p:spPr>
          <a:xfrm>
            <a:off x="7040880" y="5394960"/>
            <a:ext cx="4389120" cy="640080"/>
          </a:xfrm>
          <a:prstGeom prst="rect">
            <a:avLst/>
          </a:prstGeom>
          <a:noFill/>
        </p:spPr>
        <p:txBody>
          <a:bodyPr wrap="square" anchor="t" lIns="0" rIns="0" tIns="0" bIns="0">
            <a:spAutoFit/>
          </a:bodyPr>
          <a:lstStyle/>
          <a:p>
            <a:pPr algn="l"/>
            <a:r>
              <a:rPr sz="1300" b="0" i="0">
                <a:solidFill>
                  <a:srgbClr val="5F6B76"/>
                </a:solidFill>
                <a:latin typeface="맑은 고딕"/>
                <a:ea typeface="맑은 고딕"/>
                <a:cs typeface="맑은 고딕"/>
              </a:rPr>
              <a:t>지금은 0만 넣고 rule-based 궤적만 검증하는 단계. 학습은 아직 시작 전.</a:t>
            </a:r>
          </a:p>
        </p:txBody>
      </p:sp>
      <p:sp>
        <p:nvSpPr>
          <p:cNvPr id="18" name="TextBox 17"/>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6323F"/>
        </a:solidFill>
        <a:effectLst/>
      </p:bgPr>
    </p:bg>
    <p:spTree>
      <p:nvGrpSpPr>
        <p:cNvPr id="1" name=""/>
        <p:cNvGrpSpPr/>
        <p:nvPr/>
      </p:nvGrpSpPr>
      <p:grpSpPr/>
      <p:sp>
        <p:nvSpPr>
          <p:cNvPr id="2" name="Oval 1"/>
          <p:cNvSpPr/>
          <p:nvPr/>
        </p:nvSpPr>
        <p:spPr>
          <a:xfrm>
            <a:off x="731520" y="2377440"/>
            <a:ext cx="822960" cy="82296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400" b="1" i="0">
                <a:solidFill>
                  <a:srgbClr val="FFFFFF"/>
                </a:solidFill>
                <a:latin typeface="맑은 고딕"/>
                <a:ea typeface="맑은 고딕"/>
                <a:cs typeface="맑은 고딕"/>
              </a:rPr>
              <a:t>3</a:t>
            </a:r>
          </a:p>
        </p:txBody>
      </p:sp>
      <p:sp>
        <p:nvSpPr>
          <p:cNvPr id="3" name="TextBox 2"/>
          <p:cNvSpPr txBox="1"/>
          <p:nvPr/>
        </p:nvSpPr>
        <p:spPr>
          <a:xfrm>
            <a:off x="1828800" y="2331720"/>
            <a:ext cx="9144000" cy="914400"/>
          </a:xfrm>
          <a:prstGeom prst="rect">
            <a:avLst/>
          </a:prstGeom>
          <a:noFill/>
        </p:spPr>
        <p:txBody>
          <a:bodyPr wrap="square" anchor="t" lIns="0" rIns="0" tIns="0" bIns="0">
            <a:spAutoFit/>
          </a:bodyPr>
          <a:lstStyle/>
          <a:p>
            <a:pPr algn="l"/>
            <a:r>
              <a:rPr sz="4000" b="1" i="0">
                <a:solidFill>
                  <a:srgbClr val="FFFFFF"/>
                </a:solidFill>
                <a:latin typeface="맑은 고딕"/>
                <a:ea typeface="맑은 고딕"/>
                <a:cs typeface="맑은 고딕"/>
              </a:rPr>
              <a:t>이번 검증 결과</a:t>
            </a:r>
          </a:p>
        </p:txBody>
      </p:sp>
      <p:sp>
        <p:nvSpPr>
          <p:cNvPr id="4" name="TextBox 3"/>
          <p:cNvSpPr txBox="1"/>
          <p:nvPr/>
        </p:nvSpPr>
        <p:spPr>
          <a:xfrm>
            <a:off x="1828800" y="3246120"/>
            <a:ext cx="9144000" cy="731520"/>
          </a:xfrm>
          <a:prstGeom prst="rect">
            <a:avLst/>
          </a:prstGeom>
          <a:noFill/>
        </p:spPr>
        <p:txBody>
          <a:bodyPr wrap="square" anchor="t" lIns="0" rIns="0" tIns="0" bIns="0">
            <a:spAutoFit/>
          </a:bodyPr>
          <a:lstStyle/>
          <a:p>
            <a:pPr algn="l"/>
            <a:r>
              <a:rPr sz="1800" b="0" i="0">
                <a:solidFill>
                  <a:srgbClr val="C9DDE2"/>
                </a:solidFill>
                <a:latin typeface="맑은 고딕"/>
                <a:ea typeface="맑은 고딕"/>
                <a:cs typeface="맑은 고딕"/>
              </a:rPr>
              <a:t>9/30 문서의 '전 후보 통과'는 현재 코드에서 재현되지 않았다</a:t>
            </a:r>
          </a:p>
        </p:txBody>
      </p:sp>
      <p:sp>
        <p:nvSpPr>
          <p:cNvPr id="5" name="TextBox 4"/>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9FB4BC"/>
                </a:solidFill>
                <a:latin typeface="맑은 고딕"/>
                <a:ea typeface="맑은 고딕"/>
                <a:cs typeface="맑은 고딕"/>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찾아서 고친 문제 4가지</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수정은 hotel_to_fluent.py와 integrated_lab_process.py 두 파일에만 들어갔다</a:t>
            </a:r>
          </a:p>
        </p:txBody>
      </p:sp>
      <p:sp>
        <p:nvSpPr>
          <p:cNvPr id="4" name="Rounded Rectangle 3"/>
          <p:cNvSpPr/>
          <p:nvPr/>
        </p:nvSpPr>
        <p:spPr>
          <a:xfrm>
            <a:off x="548640" y="1783080"/>
            <a:ext cx="5440680" cy="201168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965960"/>
            <a:ext cx="4937760" cy="411480"/>
          </a:xfrm>
          <a:prstGeom prst="rect">
            <a:avLst/>
          </a:prstGeom>
          <a:noFill/>
        </p:spPr>
        <p:txBody>
          <a:bodyPr wrap="square" anchor="t" lIns="0" rIns="0" tIns="0" bIns="0">
            <a:spAutoFit/>
          </a:bodyPr>
          <a:lstStyle/>
          <a:p>
            <a:pPr algn="l"/>
            <a:r>
              <a:rPr sz="1700" b="1" i="0">
                <a:solidFill>
                  <a:srgbClr val="D95D39"/>
                </a:solidFill>
                <a:latin typeface="맑은 고딕"/>
                <a:ea typeface="맑은 고딕"/>
                <a:cs typeface="맑은 고딕"/>
              </a:rPr>
              <a:t>STX44에 놓다가 plate 낙하</a:t>
            </a:r>
          </a:p>
        </p:txBody>
      </p:sp>
      <p:sp>
        <p:nvSpPr>
          <p:cNvPr id="6" name="TextBox 5"/>
          <p:cNvSpPr txBox="1"/>
          <p:nvPr/>
        </p:nvSpPr>
        <p:spPr>
          <a:xfrm>
            <a:off x="822959" y="2423160"/>
            <a:ext cx="4937760" cy="77724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그리퍼 끝 위치만 보고 놓음. plate는 폭 30 mm 받침대에서 35 mm 벗어난 공중에 있었다</a:t>
            </a:r>
          </a:p>
        </p:txBody>
      </p:sp>
      <p:sp>
        <p:nvSpPr>
          <p:cNvPr id="7" name="Rounded Rectangle 6"/>
          <p:cNvSpPr/>
          <p:nvPr/>
        </p:nvSpPr>
        <p:spPr>
          <a:xfrm>
            <a:off x="822959" y="3200400"/>
            <a:ext cx="4892040" cy="438912"/>
          </a:xfrm>
          <a:prstGeom prst="roundRect">
            <a:avLst>
              <a:gd name="adj" fmla="val 8000"/>
            </a:avLst>
          </a:prstGeom>
          <a:solidFill>
            <a:srgbClr val="E3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1F8A7E"/>
                </a:solidFill>
                <a:latin typeface="맑은 고딕"/>
                <a:ea typeface="맑은 고딕"/>
                <a:cs typeface="맑은 고딕"/>
              </a:rPr>
              <a:t>수정: </a:t>
            </a:r>
            <a:r>
              <a:rPr sz="1300" b="0" i="0">
                <a:solidFill>
                  <a:srgbClr val="1E2933"/>
                </a:solidFill>
                <a:latin typeface="맑은 고딕"/>
                <a:ea typeface="맑은 고딕"/>
                <a:cs typeface="맑은 고딕"/>
              </a:rPr>
              <a:t>plate가 받침대 제자리에 멈춘 뒤에만 놓기</a:t>
            </a:r>
          </a:p>
        </p:txBody>
      </p:sp>
      <p:sp>
        <p:nvSpPr>
          <p:cNvPr id="8" name="Rounded Rectangle 7"/>
          <p:cNvSpPr/>
          <p:nvPr/>
        </p:nvSpPr>
        <p:spPr>
          <a:xfrm>
            <a:off x="6172200" y="1783080"/>
            <a:ext cx="5440680" cy="201168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65960"/>
            <a:ext cx="4937760" cy="411480"/>
          </a:xfrm>
          <a:prstGeom prst="rect">
            <a:avLst/>
          </a:prstGeom>
          <a:noFill/>
        </p:spPr>
        <p:txBody>
          <a:bodyPr wrap="square" anchor="t" lIns="0" rIns="0" tIns="0" bIns="0">
            <a:spAutoFit/>
          </a:bodyPr>
          <a:lstStyle/>
          <a:p>
            <a:pPr algn="l"/>
            <a:r>
              <a:rPr sz="1700" b="1" i="0">
                <a:solidFill>
                  <a:srgbClr val="D95D39"/>
                </a:solidFill>
                <a:latin typeface="맑은 고딕"/>
                <a:ea typeface="맑은 고딕"/>
                <a:cs typeface="맑은 고딕"/>
              </a:rPr>
              <a:t>놓는 위치가 20~35 mm 어긋남</a:t>
            </a:r>
          </a:p>
        </p:txBody>
      </p:sp>
      <p:sp>
        <p:nvSpPr>
          <p:cNvPr id="10" name="TextBox 9"/>
          <p:cNvSpPr txBox="1"/>
          <p:nvPr/>
        </p:nvSpPr>
        <p:spPr>
          <a:xfrm>
            <a:off x="6446520" y="2423160"/>
            <a:ext cx="4937760" cy="77724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놓는 자세가 그리퍼 끝 기준이라 실제 잡은 위치 차이를 반영 못함. 높이도 17 mm 높았다</a:t>
            </a:r>
          </a:p>
        </p:txBody>
      </p:sp>
      <p:sp>
        <p:nvSpPr>
          <p:cNvPr id="11" name="Rounded Rectangle 10"/>
          <p:cNvSpPr/>
          <p:nvPr/>
        </p:nvSpPr>
        <p:spPr>
          <a:xfrm>
            <a:off x="6446520" y="3200400"/>
            <a:ext cx="4892040" cy="438912"/>
          </a:xfrm>
          <a:prstGeom prst="roundRect">
            <a:avLst>
              <a:gd name="adj" fmla="val 8000"/>
            </a:avLst>
          </a:prstGeom>
          <a:solidFill>
            <a:srgbClr val="E3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1F8A7E"/>
                </a:solidFill>
                <a:latin typeface="맑은 고딕"/>
                <a:ea typeface="맑은 고딕"/>
                <a:cs typeface="맑은 고딕"/>
              </a:rPr>
              <a:t>수정: </a:t>
            </a:r>
            <a:r>
              <a:rPr sz="1300" b="0" i="0">
                <a:solidFill>
                  <a:srgbClr val="1E2933"/>
                </a:solidFill>
                <a:latin typeface="맑은 고딕"/>
                <a:ea typeface="맑은 고딕"/>
                <a:cs typeface="맑은 고딕"/>
              </a:rPr>
              <a:t>plate 기준으로 받침대 중심, 3 mm 위에 맞춤</a:t>
            </a:r>
          </a:p>
        </p:txBody>
      </p:sp>
      <p:sp>
        <p:nvSpPr>
          <p:cNvPr id="12" name="Rounded Rectangle 11"/>
          <p:cNvSpPr/>
          <p:nvPr/>
        </p:nvSpPr>
        <p:spPr>
          <a:xfrm>
            <a:off x="548640" y="4023360"/>
            <a:ext cx="5440680" cy="201168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206240"/>
            <a:ext cx="4937760" cy="411480"/>
          </a:xfrm>
          <a:prstGeom prst="rect">
            <a:avLst/>
          </a:prstGeom>
          <a:noFill/>
        </p:spPr>
        <p:txBody>
          <a:bodyPr wrap="square" anchor="t" lIns="0" rIns="0" tIns="0" bIns="0">
            <a:spAutoFit/>
          </a:bodyPr>
          <a:lstStyle/>
          <a:p>
            <a:pPr algn="l"/>
            <a:r>
              <a:rPr sz="1700" b="1" i="0">
                <a:solidFill>
                  <a:srgbClr val="D95D39"/>
                </a:solidFill>
                <a:latin typeface="맑은 고딕"/>
                <a:ea typeface="맑은 고딕"/>
                <a:cs typeface="맑은 고딕"/>
              </a:rPr>
              <a:t>운반 중 최대 4.8° 기울어짐</a:t>
            </a:r>
          </a:p>
        </p:txBody>
      </p:sp>
      <p:sp>
        <p:nvSpPr>
          <p:cNvPr id="14" name="TextBox 13"/>
          <p:cNvSpPr txBox="1"/>
          <p:nvPr/>
        </p:nvSpPr>
        <p:spPr>
          <a:xfrm>
            <a:off x="822959" y="4663440"/>
            <a:ext cx="4937760" cy="77724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plate 무게로 관절이 처짐. 수평 보정 함수는 만들어만 두고 호출하지 않았다</a:t>
            </a:r>
          </a:p>
        </p:txBody>
      </p:sp>
      <p:sp>
        <p:nvSpPr>
          <p:cNvPr id="15" name="Rounded Rectangle 14"/>
          <p:cNvSpPr/>
          <p:nvPr/>
        </p:nvSpPr>
        <p:spPr>
          <a:xfrm>
            <a:off x="822959" y="5440680"/>
            <a:ext cx="4892040" cy="438912"/>
          </a:xfrm>
          <a:prstGeom prst="roundRect">
            <a:avLst>
              <a:gd name="adj" fmla="val 8000"/>
            </a:avLst>
          </a:prstGeom>
          <a:solidFill>
            <a:srgbClr val="E3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1F8A7E"/>
                </a:solidFill>
                <a:latin typeface="맑은 고딕"/>
                <a:ea typeface="맑은 고딕"/>
                <a:cs typeface="맑은 고딕"/>
              </a:rPr>
              <a:t>수정: </a:t>
            </a:r>
            <a:r>
              <a:rPr sz="1300" b="0" i="0">
                <a:solidFill>
                  <a:srgbClr val="1E2933"/>
                </a:solidFill>
                <a:latin typeface="맑은 고딕"/>
                <a:ea typeface="맑은 고딕"/>
                <a:cs typeface="맑은 고딕"/>
              </a:rPr>
              <a:t>수평 보정을 실제 제어에 연결</a:t>
            </a:r>
          </a:p>
        </p:txBody>
      </p:sp>
      <p:sp>
        <p:nvSpPr>
          <p:cNvPr id="16" name="Rounded Rectangle 15"/>
          <p:cNvSpPr/>
          <p:nvPr/>
        </p:nvSpPr>
        <p:spPr>
          <a:xfrm>
            <a:off x="6172200" y="4023360"/>
            <a:ext cx="5440680" cy="201168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206240"/>
            <a:ext cx="4937760" cy="411480"/>
          </a:xfrm>
          <a:prstGeom prst="rect">
            <a:avLst/>
          </a:prstGeom>
          <a:noFill/>
        </p:spPr>
        <p:txBody>
          <a:bodyPr wrap="square" anchor="t" lIns="0" rIns="0" tIns="0" bIns="0">
            <a:spAutoFit/>
          </a:bodyPr>
          <a:lstStyle/>
          <a:p>
            <a:pPr algn="l"/>
            <a:r>
              <a:rPr sz="1700" b="1" i="0">
                <a:solidFill>
                  <a:srgbClr val="D95D39"/>
                </a:solidFill>
                <a:latin typeface="맑은 고딕"/>
                <a:ea typeface="맑은 고딕"/>
                <a:cs typeface="맑은 고딕"/>
              </a:rPr>
              <a:t>두 번째 Reader 목표 설정 오류</a:t>
            </a:r>
          </a:p>
        </p:txBody>
      </p:sp>
      <p:sp>
        <p:nvSpPr>
          <p:cNvPr id="18" name="TextBox 17"/>
          <p:cNvSpPr txBox="1"/>
          <p:nvPr/>
        </p:nvSpPr>
        <p:spPr>
          <a:xfrm>
            <a:off x="6446520" y="4663440"/>
            <a:ext cx="4937760" cy="777240"/>
          </a:xfrm>
          <a:prstGeom prst="rect">
            <a:avLst/>
          </a:prstGeom>
          <a:noFill/>
        </p:spPr>
        <p:txBody>
          <a:bodyPr wrap="square" anchor="t" lIns="0" rIns="0" tIns="0" bIns="0">
            <a:spAutoFit/>
          </a:bodyPr>
          <a:lstStyle/>
          <a:p>
            <a:pPr algn="l"/>
            <a:r>
              <a:rPr sz="1200" b="0" i="0">
                <a:solidFill>
                  <a:srgbClr val="5F6B76"/>
                </a:solidFill>
                <a:latin typeface="맑은 고딕"/>
                <a:ea typeface="맑은 고딕"/>
                <a:cs typeface="맑은 고딕"/>
              </a:rPr>
              <a:t>구간 연결 설정의 시작 번호가 7이 아니라 10. Reader에 놓을 때 STX44를 목표로 삼음</a:t>
            </a:r>
          </a:p>
        </p:txBody>
      </p:sp>
      <p:sp>
        <p:nvSpPr>
          <p:cNvPr id="19" name="Rounded Rectangle 18"/>
          <p:cNvSpPr/>
          <p:nvPr/>
        </p:nvSpPr>
        <p:spPr>
          <a:xfrm>
            <a:off x="6446520" y="5440680"/>
            <a:ext cx="4892040" cy="438912"/>
          </a:xfrm>
          <a:prstGeom prst="roundRect">
            <a:avLst>
              <a:gd name="adj" fmla="val 8000"/>
            </a:avLst>
          </a:prstGeom>
          <a:solidFill>
            <a:srgbClr val="E3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1F8A7E"/>
                </a:solidFill>
                <a:latin typeface="맑은 고딕"/>
                <a:ea typeface="맑은 고딕"/>
                <a:cs typeface="맑은 고딕"/>
              </a:rPr>
              <a:t>수정: </a:t>
            </a:r>
            <a:r>
              <a:rPr sz="1300" b="0" i="0">
                <a:solidFill>
                  <a:srgbClr val="1E2933"/>
                </a:solidFill>
                <a:latin typeface="맑은 고딕"/>
                <a:ea typeface="맑은 고딕"/>
                <a:cs typeface="맑은 고딕"/>
              </a:rPr>
              <a:t>7로 수정</a:t>
            </a:r>
          </a:p>
        </p:txBody>
      </p:sp>
      <p:sp>
        <p:nvSpPr>
          <p:cNvPr id="20" name="TextBox 19"/>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수정 후 5개 구간 모두 통과, 기울기도 줄었다</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구간을 따로 돌렸을 때 운반 중 최대 기울기 (°). 5°를 넘으면 실패</a:t>
            </a:r>
          </a:p>
        </p:txBody>
      </p:sp>
      <p:graphicFrame>
        <p:nvGraphicFramePr>
          <p:cNvPr id="4" name="Chart 3"/>
          <p:cNvGraphicFramePr>
            <a:graphicFrameLocks noGrp="1"/>
          </p:cNvGraphicFramePr>
          <p:nvPr/>
        </p:nvGraphicFramePr>
        <p:xfrm>
          <a:off x="548640" y="1691640"/>
          <a:ext cx="7863840" cy="4572000"/>
        </p:xfrm>
        <a:graphic>
          <a:graphicData uri="http://schemas.openxmlformats.org/drawingml/2006/chart">
            <c:chart xmlns:c="http://schemas.openxmlformats.org/drawingml/2006/chart" r:id="rId2"/>
          </a:graphicData>
        </a:graphic>
      </p:graphicFrame>
      <p:sp>
        <p:nvSpPr>
          <p:cNvPr id="5" name="Rounded Rectangle 4"/>
          <p:cNvSpPr/>
          <p:nvPr/>
        </p:nvSpPr>
        <p:spPr>
          <a:xfrm>
            <a:off x="8778240" y="1783080"/>
            <a:ext cx="2880360" cy="4434840"/>
          </a:xfrm>
          <a:prstGeom prst="roundRect">
            <a:avLst>
              <a:gd name="adj" fmla="val 8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06840" y="1965960"/>
            <a:ext cx="2468880" cy="457200"/>
          </a:xfrm>
          <a:prstGeom prst="rect">
            <a:avLst/>
          </a:prstGeom>
          <a:noFill/>
        </p:spPr>
        <p:txBody>
          <a:bodyPr wrap="square" anchor="t" lIns="0" rIns="0" tIns="0" bIns="0">
            <a:spAutoFit/>
          </a:bodyPr>
          <a:lstStyle/>
          <a:p>
            <a:pPr algn="l"/>
            <a:r>
              <a:rPr sz="1700" b="1" i="0">
                <a:solidFill>
                  <a:srgbClr val="16323F"/>
                </a:solidFill>
                <a:latin typeface="맑은 고딕"/>
                <a:ea typeface="맑은 고딕"/>
                <a:cs typeface="맑은 고딕"/>
              </a:rPr>
              <a:t>읽는 법</a:t>
            </a:r>
          </a:p>
        </p:txBody>
      </p:sp>
      <p:sp>
        <p:nvSpPr>
          <p:cNvPr id="7" name="TextBox 6"/>
          <p:cNvSpPr txBox="1"/>
          <p:nvPr/>
        </p:nvSpPr>
        <p:spPr>
          <a:xfrm>
            <a:off x="9006840" y="2514600"/>
            <a:ext cx="2468880" cy="3657600"/>
          </a:xfrm>
          <a:prstGeom prst="rect">
            <a:avLst/>
          </a:prstGeom>
          <a:noFill/>
        </p:spPr>
        <p:txBody>
          <a:bodyPr wrap="square" lIns="0" rIns="0" tIns="0" bIns="0">
            <a:spAutoFit/>
          </a:bodyPr>
          <a:lstStyle/>
          <a:p>
            <a:pPr marL="201168" indent="-201168">
              <a:spcAft>
                <a:spcPts val="1000"/>
              </a:spcAft>
              <a:buChar char="•"/>
            </a:pPr>
            <a:r>
              <a:rPr sz="1300" b="1" i="0">
                <a:solidFill>
                  <a:srgbClr val="1E2933"/>
                </a:solidFill>
                <a:latin typeface="맑은 고딕"/>
                <a:ea typeface="맑은 고딕"/>
                <a:cs typeface="맑은 고딕"/>
              </a:rPr>
              <a:t>Hotel→Fluent</a:t>
            </a:r>
            <a:r>
              <a:rPr sz="1300" b="0" i="0">
                <a:solidFill>
                  <a:srgbClr val="1E2933"/>
                </a:solidFill>
                <a:latin typeface="맑은 고딕"/>
                <a:ea typeface="맑은 고딕"/>
                <a:cs typeface="맑은 고딕"/>
              </a:rPr>
              <a:t> 4.82° → 1.37°로 가장 크게 개선</a:t>
            </a:r>
          </a:p>
          <a:p>
            <a:pPr marL="201168" indent="-201168">
              <a:spcAft>
                <a:spcPts val="1000"/>
              </a:spcAft>
              <a:buChar char="•"/>
            </a:pPr>
            <a:r>
              <a:rPr sz="1300" b="1" i="0">
                <a:solidFill>
                  <a:srgbClr val="1E2933"/>
                </a:solidFill>
                <a:latin typeface="맑은 고딕"/>
                <a:ea typeface="맑은 고딕"/>
                <a:cs typeface="맑은 고딕"/>
              </a:rPr>
              <a:t>Fluent→STX44</a:t>
            </a:r>
            <a:r>
              <a:rPr sz="1300" b="0" i="0">
                <a:solidFill>
                  <a:srgbClr val="1E2933"/>
                </a:solidFill>
                <a:latin typeface="맑은 고딕"/>
                <a:ea typeface="맑은 고딕"/>
                <a:cs typeface="맑은 고딕"/>
              </a:rPr>
              <a:t> 수정 전엔 plate 낙하로 실패. 지금은 통과하지만 3.70°로 기준에 가장 가깝다</a:t>
            </a:r>
          </a:p>
          <a:p>
            <a:pPr marL="201168" indent="-201168">
              <a:spcAft>
                <a:spcPts val="1000"/>
              </a:spcAft>
              <a:buChar char="•"/>
            </a:pPr>
            <a:r>
              <a:rPr sz="1300" b="1" i="0">
                <a:solidFill>
                  <a:srgbClr val="D95D39"/>
                </a:solidFill>
                <a:latin typeface="맑은 고딕"/>
                <a:ea typeface="맑은 고딕"/>
                <a:cs typeface="맑은 고딕"/>
              </a:rPr>
              <a:t>기준 5°</a:t>
            </a:r>
            <a:r>
              <a:rPr sz="1300" b="0" i="0">
                <a:solidFill>
                  <a:srgbClr val="1E2933"/>
                </a:solidFill>
                <a:latin typeface="맑은 고딕"/>
                <a:ea typeface="맑은 고딕"/>
                <a:cs typeface="맑은 고딕"/>
              </a:rPr>
              <a:t>를 넘는 구간은 없다</a:t>
            </a:r>
          </a:p>
        </p:txBody>
      </p:sp>
      <p:sp>
        <p:nvSpPr>
          <p:cNvPr id="8" name="TextBox 7"/>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r>
              <a:rPr sz="3000" b="1" i="0">
                <a:solidFill>
                  <a:srgbClr val="16323F"/>
                </a:solidFill>
                <a:latin typeface="맑은 고딕"/>
                <a:ea typeface="맑은 고딕"/>
                <a:cs typeface="맑은 고딕"/>
              </a:rPr>
              <a:t>남은 문제: 같은 위치, 다른 팔 모양</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r>
              <a:rPr sz="1500" b="0" i="0">
                <a:solidFill>
                  <a:srgbClr val="5F6B76"/>
                </a:solidFill>
                <a:latin typeface="맑은 고딕"/>
                <a:ea typeface="맑은 고딕"/>
                <a:cs typeface="맑은 고딕"/>
              </a:rPr>
              <a:t>연속 공정 6번 모두 Fluent에서 plate를 들고 나오는 단계에서 5.03°로 멈춘다</a:t>
            </a:r>
          </a:p>
        </p:txBody>
      </p:sp>
      <p:sp>
        <p:nvSpPr>
          <p:cNvPr id="4" name="Rounded Rectangle 3"/>
          <p:cNvSpPr/>
          <p:nvPr/>
        </p:nvSpPr>
        <p:spPr>
          <a:xfrm>
            <a:off x="548640" y="1783080"/>
            <a:ext cx="3429000" cy="3291840"/>
          </a:xfrm>
          <a:prstGeom prst="roundRect">
            <a:avLst>
              <a:gd name="adj" fmla="val 8000"/>
            </a:avLst>
          </a:prstGeom>
          <a:solidFill>
            <a:srgbClr val="E3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965960"/>
            <a:ext cx="2926080" cy="411480"/>
          </a:xfrm>
          <a:prstGeom prst="rect">
            <a:avLst/>
          </a:prstGeom>
          <a:noFill/>
        </p:spPr>
        <p:txBody>
          <a:bodyPr wrap="square" anchor="t" lIns="0" rIns="0" tIns="0" bIns="0">
            <a:spAutoFit/>
          </a:bodyPr>
          <a:lstStyle/>
          <a:p>
            <a:pPr algn="l"/>
            <a:r>
              <a:rPr sz="1400" b="1" i="0">
                <a:solidFill>
                  <a:srgbClr val="5F6B76"/>
                </a:solidFill>
                <a:latin typeface="맑은 고딕"/>
                <a:ea typeface="맑은 고딕"/>
                <a:cs typeface="맑은 고딕"/>
              </a:rPr>
              <a:t>단독 실행</a:t>
            </a:r>
          </a:p>
        </p:txBody>
      </p:sp>
      <p:sp>
        <p:nvSpPr>
          <p:cNvPr id="6" name="TextBox 5"/>
          <p:cNvSpPr txBox="1"/>
          <p:nvPr/>
        </p:nvSpPr>
        <p:spPr>
          <a:xfrm>
            <a:off x="822959" y="2331720"/>
            <a:ext cx="2926080" cy="640080"/>
          </a:xfrm>
          <a:prstGeom prst="rect">
            <a:avLst/>
          </a:prstGeom>
          <a:noFill/>
        </p:spPr>
        <p:txBody>
          <a:bodyPr wrap="square" anchor="t" lIns="0" rIns="0" tIns="0" bIns="0">
            <a:spAutoFit/>
          </a:bodyPr>
          <a:lstStyle/>
          <a:p>
            <a:pPr algn="l"/>
            <a:r>
              <a:rPr sz="2800" b="1" i="0">
                <a:solidFill>
                  <a:srgbClr val="1F8A7E"/>
                </a:solidFill>
                <a:latin typeface="맑은 고딕"/>
                <a:ea typeface="맑은 고딕"/>
                <a:cs typeface="맑은 고딕"/>
              </a:rPr>
              <a:t>A 모양</a:t>
            </a:r>
          </a:p>
        </p:txBody>
      </p:sp>
      <p:sp>
        <p:nvSpPr>
          <p:cNvPr id="7" name="TextBox 6"/>
          <p:cNvSpPr txBox="1"/>
          <p:nvPr/>
        </p:nvSpPr>
        <p:spPr>
          <a:xfrm>
            <a:off x="822959" y="3063240"/>
            <a:ext cx="2926080" cy="1920240"/>
          </a:xfrm>
          <a:prstGeom prst="rect">
            <a:avLst/>
          </a:prstGeom>
          <a:noFill/>
        </p:spPr>
        <p:txBody>
          <a:bodyPr wrap="square" anchor="t" lIns="0" rIns="0" tIns="0" bIns="0">
            <a:spAutoFit/>
          </a:bodyPr>
          <a:lstStyle/>
          <a:p>
            <a:pPr algn="l"/>
            <a:r>
              <a:rPr sz="1300" b="0" i="0">
                <a:solidFill>
                  <a:srgbClr val="1E2933"/>
                </a:solidFill>
                <a:latin typeface="맑은 고딕"/>
                <a:ea typeface="맑은 고딕"/>
                <a:cs typeface="맑은 고딕"/>
              </a:rPr>
              <a:t>기본 자세에서 출발해 A 모양으로 Fluent에 들어간다. plate를 수평으로 든 채 나오는 경로가 있다.</a:t>
            </a:r>
          </a:p>
        </p:txBody>
      </p:sp>
      <p:sp>
        <p:nvSpPr>
          <p:cNvPr id="8" name="Rounded Rectangle 7"/>
          <p:cNvSpPr/>
          <p:nvPr/>
        </p:nvSpPr>
        <p:spPr>
          <a:xfrm>
            <a:off x="4206240" y="1783080"/>
            <a:ext cx="3429000" cy="3291840"/>
          </a:xfrm>
          <a:prstGeom prst="roundRect">
            <a:avLst>
              <a:gd name="adj" fmla="val 8000"/>
            </a:avLst>
          </a:prstGeom>
          <a:solidFill>
            <a:srgbClr val="FBE9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1965960"/>
            <a:ext cx="2926080" cy="411480"/>
          </a:xfrm>
          <a:prstGeom prst="rect">
            <a:avLst/>
          </a:prstGeom>
          <a:noFill/>
        </p:spPr>
        <p:txBody>
          <a:bodyPr wrap="square" anchor="t" lIns="0" rIns="0" tIns="0" bIns="0">
            <a:spAutoFit/>
          </a:bodyPr>
          <a:lstStyle/>
          <a:p>
            <a:pPr algn="l"/>
            <a:r>
              <a:rPr sz="1400" b="1" i="0">
                <a:solidFill>
                  <a:srgbClr val="5F6B76"/>
                </a:solidFill>
                <a:latin typeface="맑은 고딕"/>
                <a:ea typeface="맑은 고딕"/>
                <a:cs typeface="맑은 고딕"/>
              </a:rPr>
              <a:t>연속 공정</a:t>
            </a:r>
          </a:p>
        </p:txBody>
      </p:sp>
      <p:sp>
        <p:nvSpPr>
          <p:cNvPr id="10" name="TextBox 9"/>
          <p:cNvSpPr txBox="1"/>
          <p:nvPr/>
        </p:nvSpPr>
        <p:spPr>
          <a:xfrm>
            <a:off x="4480559" y="2331720"/>
            <a:ext cx="2926080" cy="640080"/>
          </a:xfrm>
          <a:prstGeom prst="rect">
            <a:avLst/>
          </a:prstGeom>
          <a:noFill/>
        </p:spPr>
        <p:txBody>
          <a:bodyPr wrap="square" anchor="t" lIns="0" rIns="0" tIns="0" bIns="0">
            <a:spAutoFit/>
          </a:bodyPr>
          <a:lstStyle/>
          <a:p>
            <a:pPr algn="l"/>
            <a:r>
              <a:rPr sz="2800" b="1" i="0">
                <a:solidFill>
                  <a:srgbClr val="D95D39"/>
                </a:solidFill>
                <a:latin typeface="맑은 고딕"/>
                <a:ea typeface="맑은 고딕"/>
                <a:cs typeface="맑은 고딕"/>
              </a:rPr>
              <a:t>B 모양</a:t>
            </a:r>
          </a:p>
        </p:txBody>
      </p:sp>
      <p:sp>
        <p:nvSpPr>
          <p:cNvPr id="11" name="TextBox 10"/>
          <p:cNvSpPr txBox="1"/>
          <p:nvPr/>
        </p:nvSpPr>
        <p:spPr>
          <a:xfrm>
            <a:off x="4480559" y="3063240"/>
            <a:ext cx="2926080" cy="1920240"/>
          </a:xfrm>
          <a:prstGeom prst="rect">
            <a:avLst/>
          </a:prstGeom>
          <a:noFill/>
        </p:spPr>
        <p:txBody>
          <a:bodyPr wrap="square" anchor="t" lIns="0" rIns="0" tIns="0" bIns="0">
            <a:spAutoFit/>
          </a:bodyPr>
          <a:lstStyle/>
          <a:p>
            <a:pPr algn="l"/>
            <a:r>
              <a:rPr sz="1300" b="0" i="0">
                <a:solidFill>
                  <a:srgbClr val="1E2933"/>
                </a:solidFill>
                <a:latin typeface="맑은 고딕"/>
                <a:ea typeface="맑은 고딕"/>
                <a:cs typeface="맑은 고딕"/>
              </a:rPr>
              <a:t>Hotel 구간에서 넘어온 B 모양 그대로 들어간다(팔꿈치 1.46 rad, A는 0.51 rad). 나오는 경로가 없어 손목이 한계에 걸리고 기운다.</a:t>
            </a:r>
          </a:p>
        </p:txBody>
      </p:sp>
      <p:sp>
        <p:nvSpPr>
          <p:cNvPr id="12" name="Rounded Rectangle 11"/>
          <p:cNvSpPr/>
          <p:nvPr/>
        </p:nvSpPr>
        <p:spPr>
          <a:xfrm>
            <a:off x="7863840" y="1783080"/>
            <a:ext cx="3794760" cy="3291840"/>
          </a:xfrm>
          <a:prstGeom prst="roundRect">
            <a:avLst>
              <a:gd name="adj" fmla="val 8000"/>
            </a:avLst>
          </a:prstGeom>
          <a:solidFill>
            <a:srgbClr val="FFFFFF"/>
          </a:solidFill>
          <a:ln w="15875">
            <a:solidFill>
              <a:srgbClr val="C9D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965960"/>
            <a:ext cx="3383280" cy="411480"/>
          </a:xfrm>
          <a:prstGeom prst="rect">
            <a:avLst/>
          </a:prstGeom>
          <a:noFill/>
        </p:spPr>
        <p:txBody>
          <a:bodyPr wrap="square" anchor="t" lIns="0" rIns="0" tIns="0" bIns="0">
            <a:spAutoFit/>
          </a:bodyPr>
          <a:lstStyle/>
          <a:p>
            <a:pPr algn="l"/>
            <a:r>
              <a:rPr sz="1600" b="1" i="0">
                <a:solidFill>
                  <a:srgbClr val="16323F"/>
                </a:solidFill>
                <a:latin typeface="맑은 고딕"/>
                <a:ea typeface="맑은 고딕"/>
                <a:cs typeface="맑은 고딕"/>
              </a:rPr>
              <a:t>왜 이런 일이 생기나</a:t>
            </a:r>
          </a:p>
        </p:txBody>
      </p:sp>
      <p:sp>
        <p:nvSpPr>
          <p:cNvPr id="14" name="TextBox 13"/>
          <p:cNvSpPr txBox="1"/>
          <p:nvPr/>
        </p:nvSpPr>
        <p:spPr>
          <a:xfrm>
            <a:off x="8092440" y="2423160"/>
            <a:ext cx="3383280" cy="2560320"/>
          </a:xfrm>
          <a:prstGeom prst="rect">
            <a:avLst/>
          </a:prstGeom>
          <a:noFill/>
        </p:spPr>
        <p:txBody>
          <a:bodyPr wrap="square" anchor="t" lIns="0" rIns="0" tIns="0" bIns="0">
            <a:spAutoFit/>
          </a:bodyPr>
          <a:lstStyle/>
          <a:p>
            <a:pPr algn="l">
              <a:spcAft>
                <a:spcPts val="1000"/>
              </a:spcAft>
            </a:pPr>
            <a:r>
              <a:rPr sz="1300" b="0" i="0">
                <a:solidFill>
                  <a:srgbClr val="1E2933"/>
                </a:solidFill>
                <a:latin typeface="맑은 고딕"/>
                <a:ea typeface="맑은 고딕"/>
                <a:cs typeface="맑은 고딕"/>
              </a:rPr>
              <a:t>사람도 컵을 같은 자리에 두면서 팔꿈치를 위로 들거나 아래로 내릴 수 있다. 로봇도 같은 손끝 위치에 여러 팔 모양으로 닿는다.</a:t>
            </a:r>
          </a:p>
          <a:p>
            <a:pPr algn="l">
              <a:spcAft>
                <a:spcPts val="1000"/>
              </a:spcAft>
            </a:pPr>
            <a:r>
              <a:rPr sz="1300" b="0" i="0">
                <a:solidFill>
                  <a:srgbClr val="1E2933"/>
                </a:solidFill>
                <a:latin typeface="맑은 고딕"/>
                <a:ea typeface="맑은 고딕"/>
                <a:cs typeface="맑은 고딕"/>
              </a:rPr>
              <a:t>경유지를 구간마다 따로 만들어서, 구간이 만나는 지점의 팔 모양이 서로 맞는지는 확인된 적이 없었다.</a:t>
            </a:r>
          </a:p>
        </p:txBody>
      </p:sp>
      <p:sp>
        <p:nvSpPr>
          <p:cNvPr id="15" name="TextBox 14"/>
          <p:cNvSpPr txBox="1"/>
          <p:nvPr/>
        </p:nvSpPr>
        <p:spPr>
          <a:xfrm>
            <a:off x="548640" y="5349240"/>
            <a:ext cx="11064240" cy="365760"/>
          </a:xfrm>
          <a:prstGeom prst="rect">
            <a:avLst/>
          </a:prstGeom>
          <a:noFill/>
        </p:spPr>
        <p:txBody>
          <a:bodyPr wrap="square" anchor="t" lIns="0" rIns="0" tIns="0" bIns="0">
            <a:spAutoFit/>
          </a:bodyPr>
          <a:lstStyle/>
          <a:p>
            <a:pPr algn="l"/>
            <a:r>
              <a:rPr sz="1400" b="1" i="0">
                <a:solidFill>
                  <a:srgbClr val="5F6B76"/>
                </a:solidFill>
                <a:latin typeface="맑은 고딕"/>
                <a:ea typeface="맑은 고딕"/>
                <a:cs typeface="맑은 고딕"/>
              </a:rPr>
              <a:t>시도했다가 되돌린 방법</a:t>
            </a:r>
          </a:p>
        </p:txBody>
      </p:sp>
      <p:sp>
        <p:nvSpPr>
          <p:cNvPr id="16" name="TextBox 15"/>
          <p:cNvSpPr txBox="1"/>
          <p:nvPr/>
        </p:nvSpPr>
        <p:spPr>
          <a:xfrm>
            <a:off x="548640" y="5715000"/>
            <a:ext cx="11064240" cy="548640"/>
          </a:xfrm>
          <a:prstGeom prst="rect">
            <a:avLst/>
          </a:prstGeom>
          <a:noFill/>
        </p:spPr>
        <p:txBody>
          <a:bodyPr wrap="square" anchor="t" lIns="0" rIns="0" tIns="0" bIns="0">
            <a:spAutoFit/>
          </a:bodyPr>
          <a:lstStyle/>
          <a:p>
            <a:pPr algn="l"/>
            <a:r>
              <a:rPr sz="1300" b="0" i="0">
                <a:solidFill>
                  <a:srgbClr val="1E2933"/>
                </a:solidFill>
                <a:latin typeface="맑은 고딕"/>
                <a:ea typeface="맑은 고딕"/>
                <a:cs typeface="맑은 고딕"/>
              </a:rPr>
              <a:t>① 빈손일 때 손목 한 바퀴 풀기 → 같은 곳에서 실패   ② 재진입 전 기본 자세 복귀 → 팔이 자기 몸에 막혀 멈춤. 둘 다 되돌렸고, 5개 구간은 다시 통과 확인</a:t>
            </a:r>
          </a:p>
        </p:txBody>
      </p:sp>
      <p:sp>
        <p:nvSpPr>
          <p:cNvPr id="17" name="TextBox 16"/>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5F6B76"/>
                </a:solidFill>
                <a:latin typeface="맑은 고딕"/>
                <a:ea typeface="맑은 고딕"/>
                <a:cs typeface="맑은 고딕"/>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323F"/>
        </a:solidFill>
        <a:effectLst/>
      </p:bgPr>
    </p:bg>
    <p:spTree>
      <p:nvGrpSpPr>
        <p:cNvPr id="1" name=""/>
        <p:cNvGrpSpPr/>
        <p:nvPr/>
      </p:nvGrpSpPr>
      <p:grpSpPr/>
      <p:sp>
        <p:nvSpPr>
          <p:cNvPr id="2" name="TextBox 1"/>
          <p:cNvSpPr txBox="1"/>
          <p:nvPr/>
        </p:nvSpPr>
        <p:spPr>
          <a:xfrm>
            <a:off x="548640" y="548640"/>
            <a:ext cx="10972800" cy="731520"/>
          </a:xfrm>
          <a:prstGeom prst="rect">
            <a:avLst/>
          </a:prstGeom>
          <a:noFill/>
        </p:spPr>
        <p:txBody>
          <a:bodyPr wrap="square" anchor="t" lIns="0" rIns="0" tIns="0" bIns="0">
            <a:spAutoFit/>
          </a:bodyPr>
          <a:lstStyle/>
          <a:p>
            <a:pPr algn="l"/>
            <a:r>
              <a:rPr sz="3200" b="1" i="0">
                <a:solidFill>
                  <a:srgbClr val="FFFFFF"/>
                </a:solidFill>
                <a:latin typeface="맑은 고딕"/>
                <a:ea typeface="맑은 고딕"/>
                <a:cs typeface="맑은 고딕"/>
              </a:rPr>
              <a:t>다음 단계</a:t>
            </a:r>
          </a:p>
        </p:txBody>
      </p:sp>
      <p:sp>
        <p:nvSpPr>
          <p:cNvPr id="3" name="Oval 2"/>
          <p:cNvSpPr/>
          <p:nvPr/>
        </p:nvSpPr>
        <p:spPr>
          <a:xfrm>
            <a:off x="548640" y="1600200"/>
            <a:ext cx="548640" cy="548640"/>
          </a:xfrm>
          <a:prstGeom prst="ellipse">
            <a:avLst/>
          </a:prstGeom>
          <a:solidFill>
            <a:srgbClr val="1F8A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1</a:t>
            </a:r>
          </a:p>
        </p:txBody>
      </p:sp>
      <p:sp>
        <p:nvSpPr>
          <p:cNvPr id="4" name="TextBox 3"/>
          <p:cNvSpPr txBox="1"/>
          <p:nvPr/>
        </p:nvSpPr>
        <p:spPr>
          <a:xfrm>
            <a:off x="1371600" y="1554480"/>
            <a:ext cx="2926080" cy="640080"/>
          </a:xfrm>
          <a:prstGeom prst="rect">
            <a:avLst/>
          </a:prstGeom>
          <a:noFill/>
        </p:spPr>
        <p:txBody>
          <a:bodyPr wrap="square" anchor="ctr" lIns="0" rIns="0" tIns="0" bIns="0">
            <a:spAutoFit/>
          </a:bodyPr>
          <a:lstStyle/>
          <a:p>
            <a:pPr algn="l"/>
            <a:r>
              <a:rPr sz="1800" b="1" i="0">
                <a:solidFill>
                  <a:srgbClr val="FFFFFF"/>
                </a:solidFill>
                <a:latin typeface="맑은 고딕"/>
                <a:ea typeface="맑은 고딕"/>
                <a:cs typeface="맑은 고딕"/>
              </a:rPr>
              <a:t>경유지 재설계</a:t>
            </a:r>
          </a:p>
        </p:txBody>
      </p:sp>
      <p:sp>
        <p:nvSpPr>
          <p:cNvPr id="5" name="TextBox 4"/>
          <p:cNvSpPr txBox="1"/>
          <p:nvPr/>
        </p:nvSpPr>
        <p:spPr>
          <a:xfrm>
            <a:off x="4297680" y="1554480"/>
            <a:ext cx="7315200" cy="685800"/>
          </a:xfrm>
          <a:prstGeom prst="rect">
            <a:avLst/>
          </a:prstGeom>
          <a:noFill/>
        </p:spPr>
        <p:txBody>
          <a:bodyPr wrap="square" anchor="ctr" lIns="0" rIns="0" tIns="0" bIns="0">
            <a:spAutoFit/>
          </a:bodyPr>
          <a:lstStyle/>
          <a:p>
            <a:pPr algn="l"/>
            <a:r>
              <a:rPr sz="1400" b="0" i="0">
                <a:solidFill>
                  <a:srgbClr val="C9DDE2"/>
                </a:solidFill>
                <a:latin typeface="맑은 고딕"/>
                <a:ea typeface="맑은 고딕"/>
                <a:cs typeface="맑은 고딕"/>
              </a:rPr>
              <a:t>Fluent 출력부·STX44 진입부를 연속 공정의 B 모양 기준으로 다시 잡는다. plate를 든 채 팔 모양을 크게 바꾸는 동작을 없앤다.</a:t>
            </a:r>
          </a:p>
        </p:txBody>
      </p:sp>
      <p:sp>
        <p:nvSpPr>
          <p:cNvPr id="6" name="Oval 5"/>
          <p:cNvSpPr/>
          <p:nvPr/>
        </p:nvSpPr>
        <p:spPr>
          <a:xfrm>
            <a:off x="548640" y="2560320"/>
            <a:ext cx="548640" cy="548640"/>
          </a:xfrm>
          <a:prstGeom prst="ellipse">
            <a:avLst/>
          </a:prstGeom>
          <a:solidFill>
            <a:srgbClr val="2C55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2</a:t>
            </a:r>
          </a:p>
        </p:txBody>
      </p:sp>
      <p:sp>
        <p:nvSpPr>
          <p:cNvPr id="7" name="TextBox 6"/>
          <p:cNvSpPr txBox="1"/>
          <p:nvPr/>
        </p:nvSpPr>
        <p:spPr>
          <a:xfrm>
            <a:off x="1371600" y="2514600"/>
            <a:ext cx="2926080" cy="640080"/>
          </a:xfrm>
          <a:prstGeom prst="rect">
            <a:avLst/>
          </a:prstGeom>
          <a:noFill/>
        </p:spPr>
        <p:txBody>
          <a:bodyPr wrap="square" anchor="ctr" lIns="0" rIns="0" tIns="0" bIns="0">
            <a:spAutoFit/>
          </a:bodyPr>
          <a:lstStyle/>
          <a:p>
            <a:pPr algn="l"/>
            <a:r>
              <a:rPr sz="1800" b="1" i="0">
                <a:solidFill>
                  <a:srgbClr val="FFFFFF"/>
                </a:solidFill>
                <a:latin typeface="맑은 고딕"/>
                <a:ea typeface="맑은 고딕"/>
                <a:cs typeface="맑은 고딕"/>
              </a:rPr>
              <a:t>전체 재검증</a:t>
            </a:r>
          </a:p>
        </p:txBody>
      </p:sp>
      <p:sp>
        <p:nvSpPr>
          <p:cNvPr id="8" name="TextBox 7"/>
          <p:cNvSpPr txBox="1"/>
          <p:nvPr/>
        </p:nvSpPr>
        <p:spPr>
          <a:xfrm>
            <a:off x="4297680" y="2514600"/>
            <a:ext cx="7315200" cy="685800"/>
          </a:xfrm>
          <a:prstGeom prst="rect">
            <a:avLst/>
          </a:prstGeom>
          <a:noFill/>
        </p:spPr>
        <p:txBody>
          <a:bodyPr wrap="square" anchor="ctr" lIns="0" rIns="0" tIns="0" bIns="0">
            <a:spAutoFit/>
          </a:bodyPr>
          <a:lstStyle/>
          <a:p>
            <a:pPr algn="l"/>
            <a:r>
              <a:rPr sz="1400" b="0" i="0">
                <a:solidFill>
                  <a:srgbClr val="C9DDE2"/>
                </a:solidFill>
                <a:latin typeface="맑은 고딕"/>
                <a:ea typeface="맑은 고딕"/>
                <a:cs typeface="맑은 고딕"/>
              </a:rPr>
              <a:t>연속 공정 6번(C1·C2·C3 × 양성·음성)을 다시 돌려 비교표와 9/30 문서를 갱신한다.</a:t>
            </a:r>
          </a:p>
        </p:txBody>
      </p:sp>
      <p:sp>
        <p:nvSpPr>
          <p:cNvPr id="9" name="Oval 8"/>
          <p:cNvSpPr/>
          <p:nvPr/>
        </p:nvSpPr>
        <p:spPr>
          <a:xfrm>
            <a:off x="548640" y="3520440"/>
            <a:ext cx="548640" cy="548640"/>
          </a:xfrm>
          <a:prstGeom prst="ellipse">
            <a:avLst/>
          </a:prstGeom>
          <a:solidFill>
            <a:srgbClr val="2C55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3</a:t>
            </a:r>
          </a:p>
        </p:txBody>
      </p:sp>
      <p:sp>
        <p:nvSpPr>
          <p:cNvPr id="10" name="TextBox 9"/>
          <p:cNvSpPr txBox="1"/>
          <p:nvPr/>
        </p:nvSpPr>
        <p:spPr>
          <a:xfrm>
            <a:off x="1371600" y="3474720"/>
            <a:ext cx="2926080" cy="640080"/>
          </a:xfrm>
          <a:prstGeom prst="rect">
            <a:avLst/>
          </a:prstGeom>
          <a:noFill/>
        </p:spPr>
        <p:txBody>
          <a:bodyPr wrap="square" anchor="ctr" lIns="0" rIns="0" tIns="0" bIns="0">
            <a:spAutoFit/>
          </a:bodyPr>
          <a:lstStyle/>
          <a:p>
            <a:pPr algn="l"/>
            <a:r>
              <a:rPr sz="1800" b="1" i="0">
                <a:solidFill>
                  <a:srgbClr val="FFFFFF"/>
                </a:solidFill>
                <a:latin typeface="맑은 고딕"/>
                <a:ea typeface="맑은 고딕"/>
                <a:cs typeface="맑은 고딕"/>
              </a:rPr>
              <a:t>축소 한계 찾기</a:t>
            </a:r>
          </a:p>
        </p:txBody>
      </p:sp>
      <p:sp>
        <p:nvSpPr>
          <p:cNvPr id="11" name="TextBox 10"/>
          <p:cNvSpPr txBox="1"/>
          <p:nvPr/>
        </p:nvSpPr>
        <p:spPr>
          <a:xfrm>
            <a:off x="4297680" y="3474720"/>
            <a:ext cx="7315200" cy="685800"/>
          </a:xfrm>
          <a:prstGeom prst="rect">
            <a:avLst/>
          </a:prstGeom>
          <a:noFill/>
        </p:spPr>
        <p:txBody>
          <a:bodyPr wrap="square" anchor="ctr" lIns="0" rIns="0" tIns="0" bIns="0">
            <a:spAutoFit/>
          </a:bodyPr>
          <a:lstStyle/>
          <a:p>
            <a:pPr algn="l"/>
            <a:r>
              <a:rPr sz="1400" b="0" i="0">
                <a:solidFill>
                  <a:srgbClr val="C9DDE2"/>
                </a:solidFill>
                <a:latin typeface="맑은 고딕"/>
                <a:ea typeface="맑은 고딕"/>
                <a:cs typeface="맑은 고딕"/>
              </a:rPr>
              <a:t>깊이 축소를 50~70%까지 늘려 로봇 여유가 실제로 줄어드는 지점을 찾는다.</a:t>
            </a:r>
          </a:p>
        </p:txBody>
      </p:sp>
      <p:sp>
        <p:nvSpPr>
          <p:cNvPr id="12" name="Oval 11"/>
          <p:cNvSpPr/>
          <p:nvPr/>
        </p:nvSpPr>
        <p:spPr>
          <a:xfrm>
            <a:off x="548640" y="4480560"/>
            <a:ext cx="548640" cy="548640"/>
          </a:xfrm>
          <a:prstGeom prst="ellipse">
            <a:avLst/>
          </a:prstGeom>
          <a:solidFill>
            <a:srgbClr val="2C55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4</a:t>
            </a:r>
          </a:p>
        </p:txBody>
      </p:sp>
      <p:sp>
        <p:nvSpPr>
          <p:cNvPr id="13" name="TextBox 12"/>
          <p:cNvSpPr txBox="1"/>
          <p:nvPr/>
        </p:nvSpPr>
        <p:spPr>
          <a:xfrm>
            <a:off x="1371600" y="4434840"/>
            <a:ext cx="2926080" cy="640080"/>
          </a:xfrm>
          <a:prstGeom prst="rect">
            <a:avLst/>
          </a:prstGeom>
          <a:noFill/>
        </p:spPr>
        <p:txBody>
          <a:bodyPr wrap="square" anchor="ctr" lIns="0" rIns="0" tIns="0" bIns="0">
            <a:spAutoFit/>
          </a:bodyPr>
          <a:lstStyle/>
          <a:p>
            <a:pPr algn="l"/>
            <a:r>
              <a:rPr sz="1800" b="1" i="0">
                <a:solidFill>
                  <a:srgbClr val="FFFFFF"/>
                </a:solidFill>
                <a:latin typeface="맑은 고딕"/>
                <a:ea typeface="맑은 고딕"/>
                <a:cs typeface="맑은 고딕"/>
              </a:rPr>
              <a:t>강건성 검증</a:t>
            </a:r>
          </a:p>
        </p:txBody>
      </p:sp>
      <p:sp>
        <p:nvSpPr>
          <p:cNvPr id="14" name="TextBox 13"/>
          <p:cNvSpPr txBox="1"/>
          <p:nvPr/>
        </p:nvSpPr>
        <p:spPr>
          <a:xfrm>
            <a:off x="4297680" y="4434840"/>
            <a:ext cx="7315200" cy="685800"/>
          </a:xfrm>
          <a:prstGeom prst="rect">
            <a:avLst/>
          </a:prstGeom>
          <a:noFill/>
        </p:spPr>
        <p:txBody>
          <a:bodyPr wrap="square" anchor="ctr" lIns="0" rIns="0" tIns="0" bIns="0">
            <a:spAutoFit/>
          </a:bodyPr>
          <a:lstStyle/>
          <a:p>
            <a:pPr algn="l"/>
            <a:r>
              <a:rPr sz="1400" b="0" i="0">
                <a:solidFill>
                  <a:srgbClr val="C9DDE2"/>
                </a:solidFill>
                <a:latin typeface="맑은 고딕"/>
                <a:ea typeface="맑은 고딕"/>
                <a:cs typeface="맑은 고딕"/>
              </a:rPr>
              <a:t>장비·plate 위치에 무작위 오차를 넣어 반복 실행한다 (Monte Carlo).</a:t>
            </a:r>
          </a:p>
        </p:txBody>
      </p:sp>
      <p:sp>
        <p:nvSpPr>
          <p:cNvPr id="15" name="Oval 14"/>
          <p:cNvSpPr/>
          <p:nvPr/>
        </p:nvSpPr>
        <p:spPr>
          <a:xfrm>
            <a:off x="548640" y="5440679"/>
            <a:ext cx="548640" cy="548640"/>
          </a:xfrm>
          <a:prstGeom prst="ellipse">
            <a:avLst/>
          </a:prstGeom>
          <a:solidFill>
            <a:srgbClr val="2C55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맑은 고딕"/>
                <a:ea typeface="맑은 고딕"/>
                <a:cs typeface="맑은 고딕"/>
              </a:rPr>
              <a:t>5</a:t>
            </a:r>
          </a:p>
        </p:txBody>
      </p:sp>
      <p:sp>
        <p:nvSpPr>
          <p:cNvPr id="16" name="TextBox 15"/>
          <p:cNvSpPr txBox="1"/>
          <p:nvPr/>
        </p:nvSpPr>
        <p:spPr>
          <a:xfrm>
            <a:off x="1371600" y="5394959"/>
            <a:ext cx="2926080" cy="640080"/>
          </a:xfrm>
          <a:prstGeom prst="rect">
            <a:avLst/>
          </a:prstGeom>
          <a:noFill/>
        </p:spPr>
        <p:txBody>
          <a:bodyPr wrap="square" anchor="ctr" lIns="0" rIns="0" tIns="0" bIns="0">
            <a:spAutoFit/>
          </a:bodyPr>
          <a:lstStyle/>
          <a:p>
            <a:pPr algn="l"/>
            <a:r>
              <a:rPr sz="1800" b="1" i="0">
                <a:solidFill>
                  <a:srgbClr val="FFFFFF"/>
                </a:solidFill>
                <a:latin typeface="맑은 고딕"/>
                <a:ea typeface="맑은 고딕"/>
                <a:cs typeface="맑은 고딕"/>
              </a:rPr>
              <a:t>제작 정보 확보 → 학습</a:t>
            </a:r>
          </a:p>
        </p:txBody>
      </p:sp>
      <p:sp>
        <p:nvSpPr>
          <p:cNvPr id="17" name="TextBox 16"/>
          <p:cNvSpPr txBox="1"/>
          <p:nvPr/>
        </p:nvSpPr>
        <p:spPr>
          <a:xfrm>
            <a:off x="4297680" y="5394959"/>
            <a:ext cx="7315200" cy="685800"/>
          </a:xfrm>
          <a:prstGeom prst="rect">
            <a:avLst/>
          </a:prstGeom>
          <a:noFill/>
        </p:spPr>
        <p:txBody>
          <a:bodyPr wrap="square" anchor="ctr" lIns="0" rIns="0" tIns="0" bIns="0">
            <a:spAutoFit/>
          </a:bodyPr>
          <a:lstStyle/>
          <a:p>
            <a:pPr algn="l"/>
            <a:r>
              <a:rPr sz="1400" b="0" i="0">
                <a:solidFill>
                  <a:srgbClr val="C9DDE2"/>
                </a:solidFill>
                <a:latin typeface="맑은 고딕"/>
                <a:ea typeface="맑은 고딕"/>
                <a:cs typeface="맑은 고딕"/>
              </a:rPr>
              <a:t>내부 CAD·도어·tube CAD를 확보해 후보를 확정하고, 카메라 기반 강화학습 보정을 올린다.</a:t>
            </a:r>
          </a:p>
        </p:txBody>
      </p:sp>
      <p:sp>
        <p:nvSpPr>
          <p:cNvPr id="18" name="TextBox 17"/>
          <p:cNvSpPr txBox="1"/>
          <p:nvPr/>
        </p:nvSpPr>
        <p:spPr>
          <a:xfrm>
            <a:off x="11155680" y="6400800"/>
            <a:ext cx="548640" cy="274320"/>
          </a:xfrm>
          <a:prstGeom prst="rect">
            <a:avLst/>
          </a:prstGeom>
          <a:noFill/>
        </p:spPr>
        <p:txBody>
          <a:bodyPr wrap="square" anchor="t" lIns="0" rIns="0" tIns="0" bIns="0">
            <a:spAutoFit/>
          </a:bodyPr>
          <a:lstStyle/>
          <a:p>
            <a:pPr algn="r"/>
            <a:r>
              <a:rPr sz="1000" b="0" i="0">
                <a:solidFill>
                  <a:srgbClr val="9FB4BC"/>
                </a:solidFill>
                <a:latin typeface="맑은 고딕"/>
                <a:ea typeface="맑은 고딕"/>
                <a:cs typeface="맑은 고딕"/>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